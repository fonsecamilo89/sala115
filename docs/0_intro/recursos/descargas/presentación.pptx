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IBM Plex Sans" panose="020B0604020202020204" charset="0"/>
      <p:regular r:id="rId19"/>
      <p:bold r:id="rId20"/>
      <p:italic r:id="rId21"/>
      <p:boldItalic r:id="rId22"/>
    </p:embeddedFont>
    <p:embeddedFont>
      <p:font typeface="IBM Plex Sans Bold" panose="020B0604020202020204" charset="0"/>
      <p:regular r:id="rId23"/>
    </p:embeddedFont>
    <p:embeddedFont>
      <p:font typeface="Montserrat Bold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60D0EC-6BD0-4126-B7E7-55DC048BFD33}" type="datetimeFigureOut">
              <a:rPr lang="es-MX" smtClean="0"/>
              <a:t>28/10/2026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A9D0F3-98EF-4B75-81D7-8409C9CA9E5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06550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A9D0F3-98EF-4B75-81D7-8409C9CA9E5B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0144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668000" y="0"/>
            <a:ext cx="7620000" cy="10287000"/>
          </a:xfrm>
          <a:custGeom>
            <a:avLst/>
            <a:gdLst/>
            <a:ahLst/>
            <a:cxnLst/>
            <a:rect l="l" t="t" r="r" b="b"/>
            <a:pathLst>
              <a:path w="7620000" h="10287000">
                <a:moveTo>
                  <a:pt x="0" y="0"/>
                </a:moveTo>
                <a:lnTo>
                  <a:pt x="7620000" y="0"/>
                </a:lnTo>
                <a:lnTo>
                  <a:pt x="7620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0" b="-5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8572500" y="0"/>
            <a:ext cx="9715500" cy="10287000"/>
            <a:chOff x="0" y="0"/>
            <a:chExt cx="1295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954000" cy="13716000"/>
            </a:xfrm>
            <a:custGeom>
              <a:avLst/>
              <a:gdLst/>
              <a:ahLst/>
              <a:cxnLst/>
              <a:rect l="l" t="t" r="r" b="b"/>
              <a:pathLst>
                <a:path w="12954000" h="13716000">
                  <a:moveTo>
                    <a:pt x="0" y="0"/>
                  </a:moveTo>
                  <a:lnTo>
                    <a:pt x="12954000" y="0"/>
                  </a:lnTo>
                  <a:lnTo>
                    <a:pt x="12954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07111F">
                    <a:alpha val="100000"/>
                  </a:srgbClr>
                </a:gs>
                <a:gs pos="100000">
                  <a:srgbClr val="07111F">
                    <a:alpha val="1200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95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14400" y="962025"/>
            <a:ext cx="53340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32">
                <a:solidFill>
                  <a:srgbClr val="31D7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TRABAJO DE GRADO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0" y="2019300"/>
            <a:ext cx="9715500" cy="1505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27"/>
              </a:lnSpc>
            </a:pPr>
            <a:r>
              <a:rPr lang="en-US" sz="5550" b="1">
                <a:solidFill>
                  <a:srgbClr val="F3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[Título completo del</a:t>
            </a:r>
          </a:p>
          <a:p>
            <a:pPr algn="l">
              <a:lnSpc>
                <a:spcPts val="5827"/>
              </a:lnSpc>
            </a:pPr>
            <a:r>
              <a:rPr lang="en-US" sz="5550" b="1">
                <a:solidFill>
                  <a:srgbClr val="F3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Trabajo de Grado]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" y="4762500"/>
            <a:ext cx="8572500" cy="39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2325" b="1">
                <a:solidFill>
                  <a:srgbClr val="F3F8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[Nombre(s) del/los estudiante(s)]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4400" y="5391150"/>
            <a:ext cx="8572500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A9BDD2"/>
                </a:solidFill>
                <a:latin typeface="IBM Plex Sans"/>
                <a:ea typeface="IBM Plex Sans"/>
                <a:cs typeface="IBM Plex Sans"/>
                <a:sym typeface="IBM Plex Sans"/>
              </a:rPr>
              <a:t>Director/Tutor: [Nombre del Director/Tutor]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0" y="7305675"/>
            <a:ext cx="9334500" cy="313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 dirty="0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[</a:t>
            </a:r>
            <a:r>
              <a:rPr lang="en-US" sz="1950" dirty="0" err="1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Nombre</a:t>
            </a:r>
            <a:r>
              <a:rPr lang="en-US" sz="1950" dirty="0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de la </a:t>
            </a:r>
            <a:r>
              <a:rPr lang="en-US" sz="1950" dirty="0" err="1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Institución</a:t>
            </a:r>
            <a:r>
              <a:rPr lang="en-US" sz="1950" dirty="0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]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4400" y="8667750"/>
            <a:ext cx="38100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32" dirty="0">
                <a:solidFill>
                  <a:srgbClr val="31D7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[</a:t>
            </a:r>
            <a:r>
              <a:rPr lang="en-US" sz="1650" b="1" spc="132" dirty="0" err="1">
                <a:solidFill>
                  <a:srgbClr val="31D7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Año</a:t>
            </a:r>
            <a:r>
              <a:rPr lang="en-US" sz="1650" b="1" spc="132" dirty="0">
                <a:solidFill>
                  <a:srgbClr val="31D7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]</a:t>
            </a:r>
          </a:p>
        </p:txBody>
      </p:sp>
      <p:pic>
        <p:nvPicPr>
          <p:cNvPr id="1026" name="Picture 2" descr="Símbolos Institucionales – Institución Educativa John F. Kennedy">
            <a:extLst>
              <a:ext uri="{FF2B5EF4-FFF2-40B4-BE49-F238E27FC236}">
                <a16:creationId xmlns:a16="http://schemas.microsoft.com/office/drawing/2014/main" id="{FBA7983C-A0C8-529D-F4C1-3D09B0B382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3400" y="253365"/>
            <a:ext cx="198120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714375"/>
            <a:ext cx="14287500" cy="587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 b="1">
                <a:solidFill>
                  <a:srgbClr val="F3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Planteamiento del problema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333500"/>
            <a:ext cx="150495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A9BDD2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Contexto, pregunta central y pertinencia del estudio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667500" y="2190750"/>
            <a:ext cx="11049000" cy="3714750"/>
            <a:chOff x="0" y="0"/>
            <a:chExt cx="14732000" cy="4953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732000" cy="4953000"/>
            </a:xfrm>
            <a:custGeom>
              <a:avLst/>
              <a:gdLst/>
              <a:ahLst/>
              <a:cxnLst/>
              <a:rect l="l" t="t" r="r" b="b"/>
              <a:pathLst>
                <a:path w="14732000" h="4953000">
                  <a:moveTo>
                    <a:pt x="0" y="0"/>
                  </a:moveTo>
                  <a:lnTo>
                    <a:pt x="14732000" y="0"/>
                  </a:lnTo>
                  <a:lnTo>
                    <a:pt x="14732000" y="4953000"/>
                  </a:lnTo>
                  <a:lnTo>
                    <a:pt x="0" y="4953000"/>
                  </a:lnTo>
                  <a:close/>
                </a:path>
              </a:pathLst>
            </a:custGeom>
            <a:solidFill>
              <a:srgbClr val="0D2039"/>
            </a:solidFill>
            <a:ln w="9525" cap="sq">
              <a:solidFill>
                <a:srgbClr val="285078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4732000" cy="499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667500" y="6572250"/>
            <a:ext cx="11049000" cy="2476500"/>
            <a:chOff x="0" y="0"/>
            <a:chExt cx="14732000" cy="3302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732000" cy="3302000"/>
            </a:xfrm>
            <a:custGeom>
              <a:avLst/>
              <a:gdLst/>
              <a:ahLst/>
              <a:cxnLst/>
              <a:rect l="l" t="t" r="r" b="b"/>
              <a:pathLst>
                <a:path w="14732000" h="3302000">
                  <a:moveTo>
                    <a:pt x="0" y="0"/>
                  </a:moveTo>
                  <a:lnTo>
                    <a:pt x="14732000" y="0"/>
                  </a:lnTo>
                  <a:lnTo>
                    <a:pt x="14732000" y="3302000"/>
                  </a:lnTo>
                  <a:lnTo>
                    <a:pt x="0" y="3302000"/>
                  </a:lnTo>
                  <a:close/>
                </a:path>
              </a:pathLst>
            </a:custGeom>
            <a:solidFill>
              <a:srgbClr val="102541"/>
            </a:solidFill>
            <a:ln w="9525" cap="sq">
              <a:solidFill>
                <a:srgbClr val="285078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4732000" cy="334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143000" y="2447925"/>
            <a:ext cx="4762500" cy="324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01  [Descripción breve 1]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3000" y="3590925"/>
            <a:ext cx="4762500" cy="324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02  [Descripción breve 2]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43000" y="4733925"/>
            <a:ext cx="4762500" cy="324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03  [Descripción breve 3]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143000" y="6953250"/>
            <a:ext cx="2000250" cy="1143000"/>
            <a:chOff x="0" y="0"/>
            <a:chExt cx="2667000" cy="1524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667000" cy="1524000"/>
            </a:xfrm>
            <a:custGeom>
              <a:avLst/>
              <a:gdLst/>
              <a:ahLst/>
              <a:cxnLst/>
              <a:rect l="l" t="t" r="r" b="b"/>
              <a:pathLst>
                <a:path w="2667000" h="1524000">
                  <a:moveTo>
                    <a:pt x="96762" y="0"/>
                  </a:moveTo>
                  <a:lnTo>
                    <a:pt x="2570238" y="0"/>
                  </a:lnTo>
                  <a:cubicBezTo>
                    <a:pt x="2623678" y="0"/>
                    <a:pt x="2667000" y="43322"/>
                    <a:pt x="2667000" y="96762"/>
                  </a:cubicBezTo>
                  <a:lnTo>
                    <a:pt x="2667000" y="1427238"/>
                  </a:lnTo>
                  <a:cubicBezTo>
                    <a:pt x="2667000" y="1480678"/>
                    <a:pt x="2623678" y="1524000"/>
                    <a:pt x="2570238" y="1524000"/>
                  </a:cubicBezTo>
                  <a:lnTo>
                    <a:pt x="96762" y="1524000"/>
                  </a:lnTo>
                  <a:cubicBezTo>
                    <a:pt x="43322" y="1524000"/>
                    <a:pt x="0" y="1480678"/>
                    <a:pt x="0" y="1427238"/>
                  </a:cubicBezTo>
                  <a:lnTo>
                    <a:pt x="0" y="96762"/>
                  </a:lnTo>
                  <a:cubicBezTo>
                    <a:pt x="0" y="43322"/>
                    <a:pt x="43322" y="0"/>
                    <a:pt x="96762" y="0"/>
                  </a:cubicBezTo>
                  <a:close/>
                </a:path>
              </a:pathLst>
            </a:custGeom>
            <a:solidFill>
              <a:srgbClr val="10254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9525"/>
              <a:ext cx="2667000" cy="1514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3F8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CAUSAS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905250" y="6953250"/>
            <a:ext cx="2000250" cy="1143000"/>
            <a:chOff x="0" y="0"/>
            <a:chExt cx="2667000" cy="1524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667000" cy="1524000"/>
            </a:xfrm>
            <a:custGeom>
              <a:avLst/>
              <a:gdLst/>
              <a:ahLst/>
              <a:cxnLst/>
              <a:rect l="l" t="t" r="r" b="b"/>
              <a:pathLst>
                <a:path w="2667000" h="1524000">
                  <a:moveTo>
                    <a:pt x="96762" y="0"/>
                  </a:moveTo>
                  <a:lnTo>
                    <a:pt x="2570238" y="0"/>
                  </a:lnTo>
                  <a:cubicBezTo>
                    <a:pt x="2623678" y="0"/>
                    <a:pt x="2667000" y="43322"/>
                    <a:pt x="2667000" y="96762"/>
                  </a:cubicBezTo>
                  <a:lnTo>
                    <a:pt x="2667000" y="1427238"/>
                  </a:lnTo>
                  <a:cubicBezTo>
                    <a:pt x="2667000" y="1480678"/>
                    <a:pt x="2623678" y="1524000"/>
                    <a:pt x="2570238" y="1524000"/>
                  </a:cubicBezTo>
                  <a:lnTo>
                    <a:pt x="96762" y="1524000"/>
                  </a:lnTo>
                  <a:cubicBezTo>
                    <a:pt x="43322" y="1524000"/>
                    <a:pt x="0" y="1480678"/>
                    <a:pt x="0" y="1427238"/>
                  </a:cubicBezTo>
                  <a:lnTo>
                    <a:pt x="0" y="96762"/>
                  </a:lnTo>
                  <a:cubicBezTo>
                    <a:pt x="0" y="43322"/>
                    <a:pt x="43322" y="0"/>
                    <a:pt x="96762" y="0"/>
                  </a:cubicBezTo>
                  <a:close/>
                </a:path>
              </a:pathLst>
            </a:custGeom>
            <a:solidFill>
              <a:srgbClr val="10254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9525"/>
              <a:ext cx="2667000" cy="1514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3F8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EFECTOS</a:t>
              </a:r>
            </a:p>
          </p:txBody>
        </p:sp>
      </p:grpSp>
      <p:sp>
        <p:nvSpPr>
          <p:cNvPr id="19" name="AutoShape 19"/>
          <p:cNvSpPr/>
          <p:nvPr/>
        </p:nvSpPr>
        <p:spPr>
          <a:xfrm>
            <a:off x="3143250" y="7524750"/>
            <a:ext cx="762000" cy="0"/>
          </a:xfrm>
          <a:prstGeom prst="line">
            <a:avLst/>
          </a:prstGeom>
          <a:ln w="38100" cap="flat">
            <a:solidFill>
              <a:srgbClr val="31D7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Box 20"/>
          <p:cNvSpPr txBox="1"/>
          <p:nvPr/>
        </p:nvSpPr>
        <p:spPr>
          <a:xfrm>
            <a:off x="7191375" y="2552700"/>
            <a:ext cx="10001250" cy="539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150" b="1">
                <a:solidFill>
                  <a:srgbClr val="F3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[Pregunta Central de Investigación]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191375" y="6915150"/>
            <a:ext cx="10001250" cy="6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JUSTIFICACIÓN</a:t>
            </a:r>
          </a:p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[Justificación]</a:t>
            </a:r>
          </a:p>
        </p:txBody>
      </p:sp>
      <p:pic>
        <p:nvPicPr>
          <p:cNvPr id="22" name="Picture 2" descr="Símbolos Institucionales – Institución Educativa John F. Kennedy">
            <a:extLst>
              <a:ext uri="{FF2B5EF4-FFF2-40B4-BE49-F238E27FC236}">
                <a16:creationId xmlns:a16="http://schemas.microsoft.com/office/drawing/2014/main" id="{AC105693-A5B5-2ADA-5861-4686570445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3400" y="253365"/>
            <a:ext cx="198120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714375"/>
            <a:ext cx="14287500" cy="587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 b="1">
                <a:solidFill>
                  <a:srgbClr val="F3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Objetivos de la investigación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333500"/>
            <a:ext cx="150495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A9BDD2"/>
                </a:solidFill>
                <a:latin typeface="IBM Plex Sans"/>
                <a:ea typeface="IBM Plex Sans"/>
                <a:cs typeface="IBM Plex Sans"/>
                <a:sym typeface="IBM Plex Sans"/>
              </a:rPr>
              <a:t>Las etiquetas OE1–OE3 serán el hilo conductor de los resultados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714500" y="2286000"/>
            <a:ext cx="14859000" cy="2095500"/>
            <a:chOff x="0" y="0"/>
            <a:chExt cx="19812000" cy="2794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812000" cy="2794000"/>
            </a:xfrm>
            <a:custGeom>
              <a:avLst/>
              <a:gdLst/>
              <a:ahLst/>
              <a:cxnLst/>
              <a:rect l="l" t="t" r="r" b="b"/>
              <a:pathLst>
                <a:path w="19812000" h="2794000">
                  <a:moveTo>
                    <a:pt x="13026" y="0"/>
                  </a:moveTo>
                  <a:lnTo>
                    <a:pt x="19798974" y="0"/>
                  </a:lnTo>
                  <a:cubicBezTo>
                    <a:pt x="19806168" y="0"/>
                    <a:pt x="19812000" y="5832"/>
                    <a:pt x="19812000" y="13026"/>
                  </a:cubicBezTo>
                  <a:lnTo>
                    <a:pt x="19812000" y="2780974"/>
                  </a:lnTo>
                  <a:cubicBezTo>
                    <a:pt x="19812000" y="2788168"/>
                    <a:pt x="19806168" y="2794000"/>
                    <a:pt x="19798974" y="2794000"/>
                  </a:cubicBezTo>
                  <a:lnTo>
                    <a:pt x="13026" y="2794000"/>
                  </a:lnTo>
                  <a:cubicBezTo>
                    <a:pt x="5832" y="2794000"/>
                    <a:pt x="0" y="2788168"/>
                    <a:pt x="0" y="2780974"/>
                  </a:cubicBezTo>
                  <a:lnTo>
                    <a:pt x="0" y="13026"/>
                  </a:lnTo>
                  <a:cubicBezTo>
                    <a:pt x="0" y="5832"/>
                    <a:pt x="5832" y="0"/>
                    <a:pt x="13026" y="0"/>
                  </a:cubicBezTo>
                  <a:close/>
                </a:path>
              </a:pathLst>
            </a:custGeom>
            <a:solidFill>
              <a:srgbClr val="3478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9525"/>
              <a:ext cx="19812000" cy="2784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3F8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OBJETIVO GENERAL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190750" y="2676525"/>
            <a:ext cx="13906500" cy="480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0"/>
              </a:lnSpc>
            </a:pPr>
            <a:r>
              <a:rPr lang="en-US" sz="2850" b="1">
                <a:solidFill>
                  <a:srgbClr val="F3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[Objetivo General]</a:t>
            </a:r>
          </a:p>
        </p:txBody>
      </p:sp>
      <p:sp>
        <p:nvSpPr>
          <p:cNvPr id="8" name="AutoShape 8"/>
          <p:cNvSpPr/>
          <p:nvPr/>
        </p:nvSpPr>
        <p:spPr>
          <a:xfrm flipH="1">
            <a:off x="3667125" y="4381500"/>
            <a:ext cx="5476875" cy="1238250"/>
          </a:xfrm>
          <a:prstGeom prst="line">
            <a:avLst/>
          </a:prstGeom>
          <a:ln w="28575" cap="flat">
            <a:solidFill>
              <a:srgbClr val="31D7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9" name="AutoShape 9"/>
          <p:cNvSpPr/>
          <p:nvPr/>
        </p:nvSpPr>
        <p:spPr>
          <a:xfrm>
            <a:off x="9144000" y="4381500"/>
            <a:ext cx="0" cy="1238250"/>
          </a:xfrm>
          <a:prstGeom prst="line">
            <a:avLst/>
          </a:prstGeom>
          <a:ln w="28575" cap="flat">
            <a:solidFill>
              <a:srgbClr val="31D7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0" name="AutoShape 10"/>
          <p:cNvSpPr/>
          <p:nvPr/>
        </p:nvSpPr>
        <p:spPr>
          <a:xfrm>
            <a:off x="9144000" y="4381500"/>
            <a:ext cx="5476875" cy="1238250"/>
          </a:xfrm>
          <a:prstGeom prst="line">
            <a:avLst/>
          </a:prstGeom>
          <a:ln w="28575" cap="flat">
            <a:solidFill>
              <a:srgbClr val="31D7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grpSp>
        <p:nvGrpSpPr>
          <p:cNvPr id="11" name="Group 11"/>
          <p:cNvGrpSpPr/>
          <p:nvPr/>
        </p:nvGrpSpPr>
        <p:grpSpPr>
          <a:xfrm>
            <a:off x="1428750" y="6117981"/>
            <a:ext cx="4476750" cy="2381250"/>
            <a:chOff x="0" y="0"/>
            <a:chExt cx="5969000" cy="3175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969000" cy="3175000"/>
            </a:xfrm>
            <a:custGeom>
              <a:avLst/>
              <a:gdLst/>
              <a:ahLst/>
              <a:cxnLst/>
              <a:rect l="l" t="t" r="r" b="b"/>
              <a:pathLst>
                <a:path w="5969000" h="3175000">
                  <a:moveTo>
                    <a:pt x="43234" y="0"/>
                  </a:moveTo>
                  <a:lnTo>
                    <a:pt x="5925766" y="0"/>
                  </a:lnTo>
                  <a:cubicBezTo>
                    <a:pt x="5949643" y="0"/>
                    <a:pt x="5969000" y="19357"/>
                    <a:pt x="5969000" y="43234"/>
                  </a:cubicBezTo>
                  <a:lnTo>
                    <a:pt x="5969000" y="3131766"/>
                  </a:lnTo>
                  <a:cubicBezTo>
                    <a:pt x="5969000" y="3155643"/>
                    <a:pt x="5949643" y="3175000"/>
                    <a:pt x="5925766" y="3175000"/>
                  </a:cubicBezTo>
                  <a:lnTo>
                    <a:pt x="43234" y="3175000"/>
                  </a:lnTo>
                  <a:cubicBezTo>
                    <a:pt x="19357" y="3175000"/>
                    <a:pt x="0" y="3155643"/>
                    <a:pt x="0" y="3131766"/>
                  </a:cubicBezTo>
                  <a:lnTo>
                    <a:pt x="0" y="43234"/>
                  </a:lnTo>
                  <a:cubicBezTo>
                    <a:pt x="0" y="19357"/>
                    <a:pt x="19357" y="0"/>
                    <a:pt x="43234" y="0"/>
                  </a:cubicBezTo>
                  <a:close/>
                </a:path>
              </a:pathLst>
            </a:custGeom>
            <a:solidFill>
              <a:srgbClr val="10254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5969000" cy="3165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3F8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OE1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905625" y="6117981"/>
            <a:ext cx="4476750" cy="2381250"/>
            <a:chOff x="0" y="0"/>
            <a:chExt cx="5969000" cy="3175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969000" cy="3175000"/>
            </a:xfrm>
            <a:custGeom>
              <a:avLst/>
              <a:gdLst/>
              <a:ahLst/>
              <a:cxnLst/>
              <a:rect l="l" t="t" r="r" b="b"/>
              <a:pathLst>
                <a:path w="5969000" h="3175000">
                  <a:moveTo>
                    <a:pt x="43234" y="0"/>
                  </a:moveTo>
                  <a:lnTo>
                    <a:pt x="5925766" y="0"/>
                  </a:lnTo>
                  <a:cubicBezTo>
                    <a:pt x="5949643" y="0"/>
                    <a:pt x="5969000" y="19357"/>
                    <a:pt x="5969000" y="43234"/>
                  </a:cubicBezTo>
                  <a:lnTo>
                    <a:pt x="5969000" y="3131766"/>
                  </a:lnTo>
                  <a:cubicBezTo>
                    <a:pt x="5969000" y="3155643"/>
                    <a:pt x="5949643" y="3175000"/>
                    <a:pt x="5925766" y="3175000"/>
                  </a:cubicBezTo>
                  <a:lnTo>
                    <a:pt x="43234" y="3175000"/>
                  </a:lnTo>
                  <a:cubicBezTo>
                    <a:pt x="19357" y="3175000"/>
                    <a:pt x="0" y="3155643"/>
                    <a:pt x="0" y="3131766"/>
                  </a:cubicBezTo>
                  <a:lnTo>
                    <a:pt x="0" y="43234"/>
                  </a:lnTo>
                  <a:cubicBezTo>
                    <a:pt x="0" y="19357"/>
                    <a:pt x="19357" y="0"/>
                    <a:pt x="43234" y="0"/>
                  </a:cubicBezTo>
                  <a:close/>
                </a:path>
              </a:pathLst>
            </a:custGeom>
            <a:solidFill>
              <a:srgbClr val="10254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9525"/>
              <a:ext cx="5969000" cy="3165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3F8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OE2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382500" y="6117981"/>
            <a:ext cx="4476750" cy="2381250"/>
            <a:chOff x="0" y="0"/>
            <a:chExt cx="5969000" cy="3175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969000" cy="3175000"/>
            </a:xfrm>
            <a:custGeom>
              <a:avLst/>
              <a:gdLst/>
              <a:ahLst/>
              <a:cxnLst/>
              <a:rect l="l" t="t" r="r" b="b"/>
              <a:pathLst>
                <a:path w="5969000" h="3175000">
                  <a:moveTo>
                    <a:pt x="43234" y="0"/>
                  </a:moveTo>
                  <a:lnTo>
                    <a:pt x="5925766" y="0"/>
                  </a:lnTo>
                  <a:cubicBezTo>
                    <a:pt x="5949643" y="0"/>
                    <a:pt x="5969000" y="19357"/>
                    <a:pt x="5969000" y="43234"/>
                  </a:cubicBezTo>
                  <a:lnTo>
                    <a:pt x="5969000" y="3131766"/>
                  </a:lnTo>
                  <a:cubicBezTo>
                    <a:pt x="5969000" y="3155643"/>
                    <a:pt x="5949643" y="3175000"/>
                    <a:pt x="5925766" y="3175000"/>
                  </a:cubicBezTo>
                  <a:lnTo>
                    <a:pt x="43234" y="3175000"/>
                  </a:lnTo>
                  <a:cubicBezTo>
                    <a:pt x="19357" y="3175000"/>
                    <a:pt x="0" y="3155643"/>
                    <a:pt x="0" y="3131766"/>
                  </a:cubicBezTo>
                  <a:lnTo>
                    <a:pt x="0" y="43234"/>
                  </a:lnTo>
                  <a:cubicBezTo>
                    <a:pt x="0" y="19357"/>
                    <a:pt x="19357" y="0"/>
                    <a:pt x="43234" y="0"/>
                  </a:cubicBezTo>
                  <a:close/>
                </a:path>
              </a:pathLst>
            </a:custGeom>
            <a:solidFill>
              <a:srgbClr val="10254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9525"/>
              <a:ext cx="5969000" cy="3165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3F8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OE3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428750" y="6543675"/>
            <a:ext cx="447675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[Objetivo Específico 1]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905625" y="6543675"/>
            <a:ext cx="447675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[Objetivo Específico 2]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382500" y="6543675"/>
            <a:ext cx="447675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[Objetivo Específico 3]</a:t>
            </a:r>
          </a:p>
        </p:txBody>
      </p:sp>
      <p:pic>
        <p:nvPicPr>
          <p:cNvPr id="23" name="Picture 2" descr="Símbolos Institucionales – Institución Educativa John F. Kennedy">
            <a:extLst>
              <a:ext uri="{FF2B5EF4-FFF2-40B4-BE49-F238E27FC236}">
                <a16:creationId xmlns:a16="http://schemas.microsoft.com/office/drawing/2014/main" id="{1A97E0AC-7660-8865-7943-1317D2BF9C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3400" y="253365"/>
            <a:ext cx="198120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714375"/>
            <a:ext cx="14287500" cy="587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 b="1" dirty="0">
                <a:solidFill>
                  <a:srgbClr val="F3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Marco </a:t>
            </a:r>
            <a:r>
              <a:rPr lang="en-US" sz="4200" b="1" dirty="0" err="1">
                <a:solidFill>
                  <a:srgbClr val="F3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teórico</a:t>
            </a:r>
            <a:endParaRPr lang="en-US" sz="4200" b="1" dirty="0">
              <a:solidFill>
                <a:srgbClr val="F3F8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914400" y="1333500"/>
            <a:ext cx="150495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A9BDD2"/>
                </a:solidFill>
                <a:latin typeface="IBM Plex Sans"/>
                <a:ea typeface="IBM Plex Sans"/>
                <a:cs typeface="IBM Plex Sans"/>
                <a:sym typeface="IBM Plex Sans"/>
              </a:rPr>
              <a:t>Síntesis relacional de autores, teorías y categorías de análisis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752600" y="3608476"/>
            <a:ext cx="4572000" cy="2857500"/>
            <a:chOff x="0" y="0"/>
            <a:chExt cx="6096000" cy="381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096000" cy="3810000"/>
            </a:xfrm>
            <a:custGeom>
              <a:avLst/>
              <a:gdLst/>
              <a:ahLst/>
              <a:cxnLst/>
              <a:rect l="l" t="t" r="r" b="b"/>
              <a:pathLst>
                <a:path w="6096000" h="3810000">
                  <a:moveTo>
                    <a:pt x="42333" y="0"/>
                  </a:moveTo>
                  <a:lnTo>
                    <a:pt x="6053667" y="0"/>
                  </a:lnTo>
                  <a:cubicBezTo>
                    <a:pt x="6064894" y="0"/>
                    <a:pt x="6075662" y="4460"/>
                    <a:pt x="6083601" y="12399"/>
                  </a:cubicBezTo>
                  <a:cubicBezTo>
                    <a:pt x="6091540" y="20338"/>
                    <a:pt x="6096000" y="31106"/>
                    <a:pt x="6096000" y="42333"/>
                  </a:cubicBezTo>
                  <a:lnTo>
                    <a:pt x="6096000" y="3767667"/>
                  </a:lnTo>
                  <a:cubicBezTo>
                    <a:pt x="6096000" y="3778894"/>
                    <a:pt x="6091540" y="3789662"/>
                    <a:pt x="6083601" y="3797601"/>
                  </a:cubicBezTo>
                  <a:cubicBezTo>
                    <a:pt x="6075662" y="3805540"/>
                    <a:pt x="6064894" y="3810000"/>
                    <a:pt x="6053667" y="3810000"/>
                  </a:cubicBezTo>
                  <a:lnTo>
                    <a:pt x="42333" y="3810000"/>
                  </a:lnTo>
                  <a:cubicBezTo>
                    <a:pt x="31106" y="3810000"/>
                    <a:pt x="20338" y="3805540"/>
                    <a:pt x="12399" y="3797601"/>
                  </a:cubicBezTo>
                  <a:cubicBezTo>
                    <a:pt x="4460" y="3789662"/>
                    <a:pt x="0" y="3778894"/>
                    <a:pt x="0" y="37676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3478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9525"/>
              <a:ext cx="6096000" cy="3800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 dirty="0">
                  <a:solidFill>
                    <a:srgbClr val="F3F8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FUNDAMENTACIÓN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1" dirty="0">
                  <a:solidFill>
                    <a:srgbClr val="F3F8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TEÓRICA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077200" y="2628900"/>
            <a:ext cx="3429000" cy="1143000"/>
            <a:chOff x="0" y="0"/>
            <a:chExt cx="4572000" cy="1524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72000" cy="1524000"/>
            </a:xfrm>
            <a:custGeom>
              <a:avLst/>
              <a:gdLst/>
              <a:ahLst/>
              <a:cxnLst/>
              <a:rect l="l" t="t" r="r" b="b"/>
              <a:pathLst>
                <a:path w="4572000" h="1524000">
                  <a:moveTo>
                    <a:pt x="56444" y="0"/>
                  </a:moveTo>
                  <a:lnTo>
                    <a:pt x="4515555" y="0"/>
                  </a:lnTo>
                  <a:cubicBezTo>
                    <a:pt x="4530525" y="0"/>
                    <a:pt x="4544882" y="5947"/>
                    <a:pt x="4555468" y="16532"/>
                  </a:cubicBezTo>
                  <a:cubicBezTo>
                    <a:pt x="4566053" y="27118"/>
                    <a:pt x="4572000" y="41474"/>
                    <a:pt x="4572000" y="56444"/>
                  </a:cubicBezTo>
                  <a:lnTo>
                    <a:pt x="4572000" y="1467556"/>
                  </a:lnTo>
                  <a:cubicBezTo>
                    <a:pt x="4572000" y="1482526"/>
                    <a:pt x="4566053" y="1496882"/>
                    <a:pt x="4555468" y="1507468"/>
                  </a:cubicBezTo>
                  <a:cubicBezTo>
                    <a:pt x="4544882" y="1518053"/>
                    <a:pt x="4530525" y="1524000"/>
                    <a:pt x="4515555" y="1524000"/>
                  </a:cubicBezTo>
                  <a:lnTo>
                    <a:pt x="56444" y="1524000"/>
                  </a:lnTo>
                  <a:cubicBezTo>
                    <a:pt x="41474" y="1524000"/>
                    <a:pt x="27118" y="1518053"/>
                    <a:pt x="16532" y="1507468"/>
                  </a:cubicBezTo>
                  <a:cubicBezTo>
                    <a:pt x="5947" y="1496882"/>
                    <a:pt x="0" y="1482526"/>
                    <a:pt x="0" y="1467556"/>
                  </a:cubicBezTo>
                  <a:lnTo>
                    <a:pt x="0" y="56444"/>
                  </a:lnTo>
                  <a:cubicBezTo>
                    <a:pt x="0" y="41474"/>
                    <a:pt x="5947" y="27118"/>
                    <a:pt x="16532" y="16532"/>
                  </a:cubicBezTo>
                  <a:cubicBezTo>
                    <a:pt x="27118" y="5947"/>
                    <a:pt x="41474" y="0"/>
                    <a:pt x="56444" y="0"/>
                  </a:cubicBezTo>
                  <a:close/>
                </a:path>
              </a:pathLst>
            </a:custGeom>
            <a:solidFill>
              <a:srgbClr val="10254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4572000" cy="1514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3F8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AUTOR / TEORÍA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077200" y="4533900"/>
            <a:ext cx="3429000" cy="1143000"/>
            <a:chOff x="0" y="0"/>
            <a:chExt cx="4572000" cy="1524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572000" cy="1524000"/>
            </a:xfrm>
            <a:custGeom>
              <a:avLst/>
              <a:gdLst/>
              <a:ahLst/>
              <a:cxnLst/>
              <a:rect l="l" t="t" r="r" b="b"/>
              <a:pathLst>
                <a:path w="4572000" h="1524000">
                  <a:moveTo>
                    <a:pt x="56444" y="0"/>
                  </a:moveTo>
                  <a:lnTo>
                    <a:pt x="4515555" y="0"/>
                  </a:lnTo>
                  <a:cubicBezTo>
                    <a:pt x="4530525" y="0"/>
                    <a:pt x="4544882" y="5947"/>
                    <a:pt x="4555468" y="16532"/>
                  </a:cubicBezTo>
                  <a:cubicBezTo>
                    <a:pt x="4566053" y="27118"/>
                    <a:pt x="4572000" y="41474"/>
                    <a:pt x="4572000" y="56444"/>
                  </a:cubicBezTo>
                  <a:lnTo>
                    <a:pt x="4572000" y="1467556"/>
                  </a:lnTo>
                  <a:cubicBezTo>
                    <a:pt x="4572000" y="1482526"/>
                    <a:pt x="4566053" y="1496882"/>
                    <a:pt x="4555468" y="1507468"/>
                  </a:cubicBezTo>
                  <a:cubicBezTo>
                    <a:pt x="4544882" y="1518053"/>
                    <a:pt x="4530525" y="1524000"/>
                    <a:pt x="4515555" y="1524000"/>
                  </a:cubicBezTo>
                  <a:lnTo>
                    <a:pt x="56444" y="1524000"/>
                  </a:lnTo>
                  <a:cubicBezTo>
                    <a:pt x="41474" y="1524000"/>
                    <a:pt x="27118" y="1518053"/>
                    <a:pt x="16532" y="1507468"/>
                  </a:cubicBezTo>
                  <a:cubicBezTo>
                    <a:pt x="5947" y="1496882"/>
                    <a:pt x="0" y="1482526"/>
                    <a:pt x="0" y="1467556"/>
                  </a:cubicBezTo>
                  <a:lnTo>
                    <a:pt x="0" y="56444"/>
                  </a:lnTo>
                  <a:cubicBezTo>
                    <a:pt x="0" y="41474"/>
                    <a:pt x="5947" y="27118"/>
                    <a:pt x="16532" y="16532"/>
                  </a:cubicBezTo>
                  <a:cubicBezTo>
                    <a:pt x="27118" y="5947"/>
                    <a:pt x="41474" y="0"/>
                    <a:pt x="56444" y="0"/>
                  </a:cubicBezTo>
                  <a:close/>
                </a:path>
              </a:pathLst>
            </a:custGeom>
            <a:solidFill>
              <a:srgbClr val="10254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4572000" cy="1514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3F8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AUTOR / TEORÍA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077200" y="6486525"/>
            <a:ext cx="3429000" cy="1143000"/>
            <a:chOff x="0" y="0"/>
            <a:chExt cx="4572000" cy="1524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572000" cy="1524000"/>
            </a:xfrm>
            <a:custGeom>
              <a:avLst/>
              <a:gdLst/>
              <a:ahLst/>
              <a:cxnLst/>
              <a:rect l="l" t="t" r="r" b="b"/>
              <a:pathLst>
                <a:path w="4572000" h="1524000">
                  <a:moveTo>
                    <a:pt x="56444" y="0"/>
                  </a:moveTo>
                  <a:lnTo>
                    <a:pt x="4515555" y="0"/>
                  </a:lnTo>
                  <a:cubicBezTo>
                    <a:pt x="4530525" y="0"/>
                    <a:pt x="4544882" y="5947"/>
                    <a:pt x="4555468" y="16532"/>
                  </a:cubicBezTo>
                  <a:cubicBezTo>
                    <a:pt x="4566053" y="27118"/>
                    <a:pt x="4572000" y="41474"/>
                    <a:pt x="4572000" y="56444"/>
                  </a:cubicBezTo>
                  <a:lnTo>
                    <a:pt x="4572000" y="1467556"/>
                  </a:lnTo>
                  <a:cubicBezTo>
                    <a:pt x="4572000" y="1482526"/>
                    <a:pt x="4566053" y="1496882"/>
                    <a:pt x="4555468" y="1507468"/>
                  </a:cubicBezTo>
                  <a:cubicBezTo>
                    <a:pt x="4544882" y="1518053"/>
                    <a:pt x="4530525" y="1524000"/>
                    <a:pt x="4515555" y="1524000"/>
                  </a:cubicBezTo>
                  <a:lnTo>
                    <a:pt x="56444" y="1524000"/>
                  </a:lnTo>
                  <a:cubicBezTo>
                    <a:pt x="41474" y="1524000"/>
                    <a:pt x="27118" y="1518053"/>
                    <a:pt x="16532" y="1507468"/>
                  </a:cubicBezTo>
                  <a:cubicBezTo>
                    <a:pt x="5947" y="1496882"/>
                    <a:pt x="0" y="1482526"/>
                    <a:pt x="0" y="1467556"/>
                  </a:cubicBezTo>
                  <a:lnTo>
                    <a:pt x="0" y="56444"/>
                  </a:lnTo>
                  <a:cubicBezTo>
                    <a:pt x="0" y="41474"/>
                    <a:pt x="5947" y="27118"/>
                    <a:pt x="16532" y="16532"/>
                  </a:cubicBezTo>
                  <a:cubicBezTo>
                    <a:pt x="27118" y="5947"/>
                    <a:pt x="41474" y="0"/>
                    <a:pt x="56444" y="0"/>
                  </a:cubicBezTo>
                  <a:close/>
                </a:path>
              </a:pathLst>
            </a:custGeom>
            <a:solidFill>
              <a:srgbClr val="10254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9525"/>
              <a:ext cx="4572000" cy="1514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3F8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AUTOR / TEORÍA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569687" y="2040627"/>
            <a:ext cx="4765813" cy="1897594"/>
            <a:chOff x="-4417" y="-625125"/>
            <a:chExt cx="6354417" cy="253012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50000" cy="1905000"/>
            </a:xfrm>
            <a:custGeom>
              <a:avLst/>
              <a:gdLst/>
              <a:ahLst/>
              <a:cxnLst/>
              <a:rect l="l" t="t" r="r" b="b"/>
              <a:pathLst>
                <a:path w="6350000" h="1905000">
                  <a:moveTo>
                    <a:pt x="40640" y="0"/>
                  </a:moveTo>
                  <a:lnTo>
                    <a:pt x="6309360" y="0"/>
                  </a:lnTo>
                  <a:cubicBezTo>
                    <a:pt x="6331805" y="0"/>
                    <a:pt x="6350000" y="18195"/>
                    <a:pt x="6350000" y="40640"/>
                  </a:cubicBezTo>
                  <a:lnTo>
                    <a:pt x="6350000" y="1864360"/>
                  </a:lnTo>
                  <a:cubicBezTo>
                    <a:pt x="6350000" y="1886805"/>
                    <a:pt x="6331805" y="1905000"/>
                    <a:pt x="6309360" y="1905000"/>
                  </a:cubicBezTo>
                  <a:lnTo>
                    <a:pt x="40640" y="1905000"/>
                  </a:lnTo>
                  <a:cubicBezTo>
                    <a:pt x="18195" y="1905000"/>
                    <a:pt x="0" y="1886805"/>
                    <a:pt x="0" y="1864360"/>
                  </a:cubicBezTo>
                  <a:lnTo>
                    <a:pt x="0" y="40640"/>
                  </a:lnTo>
                  <a:cubicBezTo>
                    <a:pt x="0" y="18195"/>
                    <a:pt x="18195" y="0"/>
                    <a:pt x="40640" y="0"/>
                  </a:cubicBezTo>
                  <a:close/>
                </a:path>
              </a:pathLst>
            </a:custGeom>
            <a:solidFill>
              <a:srgbClr val="0D203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-4417" y="-625125"/>
              <a:ext cx="6350000" cy="6827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 dirty="0">
                  <a:solidFill>
                    <a:srgbClr val="F3F8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CATEGORÍA 1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604060" y="3945365"/>
            <a:ext cx="4769540" cy="1883935"/>
            <a:chOff x="-22087" y="-645013"/>
            <a:chExt cx="6359387" cy="2511913"/>
          </a:xfrm>
        </p:grpSpPr>
        <p:sp>
          <p:nvSpPr>
            <p:cNvPr id="20" name="Freeform 20"/>
            <p:cNvSpPr/>
            <p:nvPr/>
          </p:nvSpPr>
          <p:spPr>
            <a:xfrm>
              <a:off x="-22087" y="-38100"/>
              <a:ext cx="6350000" cy="1905000"/>
            </a:xfrm>
            <a:custGeom>
              <a:avLst/>
              <a:gdLst/>
              <a:ahLst/>
              <a:cxnLst/>
              <a:rect l="l" t="t" r="r" b="b"/>
              <a:pathLst>
                <a:path w="6350000" h="1905000">
                  <a:moveTo>
                    <a:pt x="40640" y="0"/>
                  </a:moveTo>
                  <a:lnTo>
                    <a:pt x="6309360" y="0"/>
                  </a:lnTo>
                  <a:cubicBezTo>
                    <a:pt x="6331805" y="0"/>
                    <a:pt x="6350000" y="18195"/>
                    <a:pt x="6350000" y="40640"/>
                  </a:cubicBezTo>
                  <a:lnTo>
                    <a:pt x="6350000" y="1864360"/>
                  </a:lnTo>
                  <a:cubicBezTo>
                    <a:pt x="6350000" y="1886805"/>
                    <a:pt x="6331805" y="1905000"/>
                    <a:pt x="6309360" y="1905000"/>
                  </a:cubicBezTo>
                  <a:lnTo>
                    <a:pt x="40640" y="1905000"/>
                  </a:lnTo>
                  <a:cubicBezTo>
                    <a:pt x="18195" y="1905000"/>
                    <a:pt x="0" y="1886805"/>
                    <a:pt x="0" y="1864360"/>
                  </a:cubicBezTo>
                  <a:lnTo>
                    <a:pt x="0" y="40640"/>
                  </a:lnTo>
                  <a:cubicBezTo>
                    <a:pt x="0" y="18195"/>
                    <a:pt x="18195" y="0"/>
                    <a:pt x="40640" y="0"/>
                  </a:cubicBezTo>
                  <a:close/>
                </a:path>
              </a:pathLst>
            </a:custGeom>
            <a:solidFill>
              <a:srgbClr val="0D203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-12700" y="-645013"/>
              <a:ext cx="6350000" cy="536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 dirty="0">
                  <a:solidFill>
                    <a:srgbClr val="F3F8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CATEGORÍA 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620625" y="5926880"/>
            <a:ext cx="4762500" cy="1835995"/>
            <a:chOff x="0" y="-542993"/>
            <a:chExt cx="6350000" cy="244799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350000" cy="1905000"/>
            </a:xfrm>
            <a:custGeom>
              <a:avLst/>
              <a:gdLst/>
              <a:ahLst/>
              <a:cxnLst/>
              <a:rect l="l" t="t" r="r" b="b"/>
              <a:pathLst>
                <a:path w="6350000" h="1905000">
                  <a:moveTo>
                    <a:pt x="40640" y="0"/>
                  </a:moveTo>
                  <a:lnTo>
                    <a:pt x="6309360" y="0"/>
                  </a:lnTo>
                  <a:cubicBezTo>
                    <a:pt x="6331805" y="0"/>
                    <a:pt x="6350000" y="18195"/>
                    <a:pt x="6350000" y="40640"/>
                  </a:cubicBezTo>
                  <a:lnTo>
                    <a:pt x="6350000" y="1864360"/>
                  </a:lnTo>
                  <a:cubicBezTo>
                    <a:pt x="6350000" y="1886805"/>
                    <a:pt x="6331805" y="1905000"/>
                    <a:pt x="6309360" y="1905000"/>
                  </a:cubicBezTo>
                  <a:lnTo>
                    <a:pt x="40640" y="1905000"/>
                  </a:lnTo>
                  <a:cubicBezTo>
                    <a:pt x="18195" y="1905000"/>
                    <a:pt x="0" y="1886805"/>
                    <a:pt x="0" y="1864360"/>
                  </a:cubicBezTo>
                  <a:lnTo>
                    <a:pt x="0" y="40640"/>
                  </a:lnTo>
                  <a:cubicBezTo>
                    <a:pt x="0" y="18195"/>
                    <a:pt x="18195" y="0"/>
                    <a:pt x="40640" y="0"/>
                  </a:cubicBezTo>
                  <a:close/>
                </a:path>
              </a:pathLst>
            </a:custGeom>
            <a:solidFill>
              <a:srgbClr val="0D203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542993"/>
              <a:ext cx="63500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 dirty="0">
                  <a:solidFill>
                    <a:srgbClr val="F3F8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CATEGORÍA 3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8248650" y="3347671"/>
            <a:ext cx="3048000" cy="324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2"/>
              </a:lnSpc>
            </a:pPr>
            <a:r>
              <a:rPr lang="en-US" sz="1950" dirty="0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[Autor 1]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248650" y="5267325"/>
            <a:ext cx="3048000" cy="324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2"/>
              </a:lnSpc>
            </a:pPr>
            <a:r>
              <a:rPr lang="en-US" sz="1950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[Autor 2]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48650" y="7172325"/>
            <a:ext cx="3048000" cy="324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2"/>
              </a:lnSpc>
            </a:pPr>
            <a:r>
              <a:rPr lang="en-US" sz="1950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[Autor 3]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954000" y="2725142"/>
            <a:ext cx="4286250" cy="940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 err="1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Aporte</a:t>
            </a:r>
            <a:r>
              <a:rPr lang="en-US" sz="1800" dirty="0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 </a:t>
            </a:r>
            <a:r>
              <a:rPr lang="en-US" sz="1800" dirty="0" err="1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te</a:t>
            </a:r>
            <a:r>
              <a:rPr lang="en-US" dirty="0" err="1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órico</a:t>
            </a:r>
            <a:r>
              <a:rPr lang="en-US" dirty="0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, </a:t>
            </a:r>
            <a:r>
              <a:rPr lang="en-US" dirty="0" err="1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disciplinar</a:t>
            </a:r>
            <a:r>
              <a:rPr lang="en-US" dirty="0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o </a:t>
            </a:r>
            <a:r>
              <a:rPr lang="en-US" dirty="0" err="1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epistemológico</a:t>
            </a:r>
            <a:r>
              <a:rPr lang="en-US" dirty="0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que </a:t>
            </a:r>
            <a:r>
              <a:rPr lang="en-US" dirty="0" err="1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aporta</a:t>
            </a:r>
            <a:r>
              <a:rPr lang="en-US" dirty="0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a </a:t>
            </a:r>
            <a:r>
              <a:rPr lang="en-US" dirty="0" err="1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su</a:t>
            </a:r>
            <a:r>
              <a:rPr lang="en-US" dirty="0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dirty="0" err="1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investigación</a:t>
            </a:r>
            <a:endParaRPr lang="en-US" sz="1800" dirty="0">
              <a:solidFill>
                <a:srgbClr val="F3F8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31" name="Picture 2" descr="Símbolos Institucionales – Institución Educativa John F. Kennedy">
            <a:extLst>
              <a:ext uri="{FF2B5EF4-FFF2-40B4-BE49-F238E27FC236}">
                <a16:creationId xmlns:a16="http://schemas.microsoft.com/office/drawing/2014/main" id="{3D538370-01DE-AA58-B688-FD4799C150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3400" y="253365"/>
            <a:ext cx="198120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28">
            <a:extLst>
              <a:ext uri="{FF2B5EF4-FFF2-40B4-BE49-F238E27FC236}">
                <a16:creationId xmlns:a16="http://schemas.microsoft.com/office/drawing/2014/main" id="{E8DB31FF-E4D0-F242-FDF1-B08E2BEACF5A}"/>
              </a:ext>
            </a:extLst>
          </p:cNvPr>
          <p:cNvSpPr txBox="1"/>
          <p:nvPr/>
        </p:nvSpPr>
        <p:spPr>
          <a:xfrm>
            <a:off x="12954000" y="4567098"/>
            <a:ext cx="4286250" cy="940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 err="1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Aporte</a:t>
            </a:r>
            <a:r>
              <a:rPr lang="en-US" sz="1800" dirty="0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 </a:t>
            </a:r>
            <a:r>
              <a:rPr lang="en-US" sz="1800" dirty="0" err="1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te</a:t>
            </a:r>
            <a:r>
              <a:rPr lang="en-US" dirty="0" err="1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órico</a:t>
            </a:r>
            <a:r>
              <a:rPr lang="en-US" dirty="0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, </a:t>
            </a:r>
            <a:r>
              <a:rPr lang="en-US" dirty="0" err="1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disciplinar</a:t>
            </a:r>
            <a:r>
              <a:rPr lang="en-US" dirty="0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o </a:t>
            </a:r>
            <a:r>
              <a:rPr lang="en-US" dirty="0" err="1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epistemológico</a:t>
            </a:r>
            <a:r>
              <a:rPr lang="en-US" dirty="0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que </a:t>
            </a:r>
            <a:r>
              <a:rPr lang="en-US" dirty="0" err="1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aporta</a:t>
            </a:r>
            <a:r>
              <a:rPr lang="en-US" dirty="0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a </a:t>
            </a:r>
            <a:r>
              <a:rPr lang="en-US" dirty="0" err="1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su</a:t>
            </a:r>
            <a:r>
              <a:rPr lang="en-US" dirty="0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dirty="0" err="1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investigación</a:t>
            </a:r>
            <a:endParaRPr lang="en-US" sz="1800" dirty="0">
              <a:solidFill>
                <a:srgbClr val="F3F8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3" name="TextBox 28">
            <a:extLst>
              <a:ext uri="{FF2B5EF4-FFF2-40B4-BE49-F238E27FC236}">
                <a16:creationId xmlns:a16="http://schemas.microsoft.com/office/drawing/2014/main" id="{EA3210B9-EC68-600F-B47F-9C84603FCF1E}"/>
              </a:ext>
            </a:extLst>
          </p:cNvPr>
          <p:cNvSpPr txBox="1"/>
          <p:nvPr/>
        </p:nvSpPr>
        <p:spPr>
          <a:xfrm>
            <a:off x="12954000" y="6549796"/>
            <a:ext cx="4286250" cy="940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 err="1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Aporte</a:t>
            </a:r>
            <a:r>
              <a:rPr lang="en-US" sz="1800" dirty="0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 </a:t>
            </a:r>
            <a:r>
              <a:rPr lang="en-US" sz="1800" dirty="0" err="1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te</a:t>
            </a:r>
            <a:r>
              <a:rPr lang="en-US" dirty="0" err="1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órico</a:t>
            </a:r>
            <a:r>
              <a:rPr lang="en-US" dirty="0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, </a:t>
            </a:r>
            <a:r>
              <a:rPr lang="en-US" dirty="0" err="1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disciplinar</a:t>
            </a:r>
            <a:r>
              <a:rPr lang="en-US" dirty="0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o </a:t>
            </a:r>
            <a:r>
              <a:rPr lang="en-US" dirty="0" err="1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epistemológico</a:t>
            </a:r>
            <a:r>
              <a:rPr lang="en-US" dirty="0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que </a:t>
            </a:r>
            <a:r>
              <a:rPr lang="en-US" dirty="0" err="1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aporta</a:t>
            </a:r>
            <a:r>
              <a:rPr lang="en-US" dirty="0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a </a:t>
            </a:r>
            <a:r>
              <a:rPr lang="en-US" dirty="0" err="1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su</a:t>
            </a:r>
            <a:r>
              <a:rPr lang="en-US" dirty="0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dirty="0" err="1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investigación</a:t>
            </a:r>
            <a:endParaRPr lang="en-US" sz="1800" dirty="0">
              <a:solidFill>
                <a:srgbClr val="F3F8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714375"/>
            <a:ext cx="14287500" cy="587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 b="1">
                <a:solidFill>
                  <a:srgbClr val="F3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Metodología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333500"/>
            <a:ext cx="150495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A9BDD2"/>
                </a:solidFill>
                <a:latin typeface="IBM Plex Sans"/>
                <a:ea typeface="IBM Plex Sans"/>
                <a:cs typeface="IBM Plex Sans"/>
                <a:sym typeface="IBM Plex Sans"/>
              </a:rPr>
              <a:t>Diseño metodológico, participantes, instrumentos y secuencia de trabajo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857250" y="2190750"/>
            <a:ext cx="7620000" cy="3429000"/>
            <a:chOff x="0" y="0"/>
            <a:chExt cx="10160000" cy="4572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160000" cy="4572000"/>
            </a:xfrm>
            <a:custGeom>
              <a:avLst/>
              <a:gdLst/>
              <a:ahLst/>
              <a:cxnLst/>
              <a:rect l="l" t="t" r="r" b="b"/>
              <a:pathLst>
                <a:path w="10160000" h="4572000">
                  <a:moveTo>
                    <a:pt x="0" y="0"/>
                  </a:moveTo>
                  <a:lnTo>
                    <a:pt x="10160000" y="0"/>
                  </a:lnTo>
                  <a:lnTo>
                    <a:pt x="10160000" y="4572000"/>
                  </a:lnTo>
                  <a:lnTo>
                    <a:pt x="0" y="4572000"/>
                  </a:lnTo>
                  <a:close/>
                </a:path>
              </a:pathLst>
            </a:custGeom>
            <a:solidFill>
              <a:srgbClr val="102541"/>
            </a:solidFill>
            <a:ln w="9525" cap="sq">
              <a:solidFill>
                <a:srgbClr val="285078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0160000" cy="461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334500" y="2190750"/>
            <a:ext cx="7905750" cy="3429000"/>
            <a:chOff x="0" y="0"/>
            <a:chExt cx="10541000" cy="4572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541000" cy="4572000"/>
            </a:xfrm>
            <a:custGeom>
              <a:avLst/>
              <a:gdLst/>
              <a:ahLst/>
              <a:cxnLst/>
              <a:rect l="l" t="t" r="r" b="b"/>
              <a:pathLst>
                <a:path w="10541000" h="4572000">
                  <a:moveTo>
                    <a:pt x="0" y="0"/>
                  </a:moveTo>
                  <a:lnTo>
                    <a:pt x="10541000" y="0"/>
                  </a:lnTo>
                  <a:lnTo>
                    <a:pt x="10541000" y="4572000"/>
                  </a:lnTo>
                  <a:lnTo>
                    <a:pt x="0" y="4572000"/>
                  </a:lnTo>
                  <a:close/>
                </a:path>
              </a:pathLst>
            </a:custGeom>
            <a:solidFill>
              <a:srgbClr val="102541"/>
            </a:solidFill>
            <a:ln w="9525" cap="sq">
              <a:solidFill>
                <a:srgbClr val="285078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0541000" cy="461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143000" y="2428875"/>
            <a:ext cx="6667500" cy="480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b="1">
                <a:solidFill>
                  <a:srgbClr val="F3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[Enfoque] · [Tipo]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10750" y="2457450"/>
            <a:ext cx="6953250" cy="611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POBLACIÓN / MUESTRA</a:t>
            </a: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[Descripción población/muestra]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10750" y="4219575"/>
            <a:ext cx="6953250" cy="611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TÉCNICAS E INSTRUMENTOS</a:t>
            </a: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[Técnicas e instrumentos]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143000" y="6953250"/>
            <a:ext cx="3143250" cy="1238250"/>
            <a:chOff x="0" y="0"/>
            <a:chExt cx="4191000" cy="1651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191000" cy="1651000"/>
            </a:xfrm>
            <a:custGeom>
              <a:avLst/>
              <a:gdLst/>
              <a:ahLst/>
              <a:cxnLst/>
              <a:rect l="l" t="t" r="r" b="b"/>
              <a:pathLst>
                <a:path w="4191000" h="1651000">
                  <a:moveTo>
                    <a:pt x="61576" y="0"/>
                  </a:moveTo>
                  <a:lnTo>
                    <a:pt x="4129424" y="0"/>
                  </a:lnTo>
                  <a:cubicBezTo>
                    <a:pt x="4163432" y="0"/>
                    <a:pt x="4191000" y="27568"/>
                    <a:pt x="4191000" y="61576"/>
                  </a:cubicBezTo>
                  <a:lnTo>
                    <a:pt x="4191000" y="1589424"/>
                  </a:lnTo>
                  <a:cubicBezTo>
                    <a:pt x="4191000" y="1623432"/>
                    <a:pt x="4163432" y="1651000"/>
                    <a:pt x="4129424" y="1651000"/>
                  </a:cubicBezTo>
                  <a:lnTo>
                    <a:pt x="61576" y="1651000"/>
                  </a:lnTo>
                  <a:cubicBezTo>
                    <a:pt x="27568" y="1651000"/>
                    <a:pt x="0" y="1623432"/>
                    <a:pt x="0" y="1589424"/>
                  </a:cubicBezTo>
                  <a:lnTo>
                    <a:pt x="0" y="61576"/>
                  </a:lnTo>
                  <a:cubicBezTo>
                    <a:pt x="0" y="27568"/>
                    <a:pt x="27568" y="0"/>
                    <a:pt x="61576" y="0"/>
                  </a:cubicBezTo>
                  <a:close/>
                </a:path>
              </a:pathLst>
            </a:custGeom>
            <a:solidFill>
              <a:srgbClr val="10254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9525"/>
              <a:ext cx="4191000" cy="164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3F8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1  DISEÑO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3F8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[Tiempo aprox.]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381625" y="6953250"/>
            <a:ext cx="3143250" cy="1238250"/>
            <a:chOff x="0" y="0"/>
            <a:chExt cx="4191000" cy="1651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191000" cy="1651000"/>
            </a:xfrm>
            <a:custGeom>
              <a:avLst/>
              <a:gdLst/>
              <a:ahLst/>
              <a:cxnLst/>
              <a:rect l="l" t="t" r="r" b="b"/>
              <a:pathLst>
                <a:path w="4191000" h="1651000">
                  <a:moveTo>
                    <a:pt x="61576" y="0"/>
                  </a:moveTo>
                  <a:lnTo>
                    <a:pt x="4129424" y="0"/>
                  </a:lnTo>
                  <a:cubicBezTo>
                    <a:pt x="4163432" y="0"/>
                    <a:pt x="4191000" y="27568"/>
                    <a:pt x="4191000" y="61576"/>
                  </a:cubicBezTo>
                  <a:lnTo>
                    <a:pt x="4191000" y="1589424"/>
                  </a:lnTo>
                  <a:cubicBezTo>
                    <a:pt x="4191000" y="1623432"/>
                    <a:pt x="4163432" y="1651000"/>
                    <a:pt x="4129424" y="1651000"/>
                  </a:cubicBezTo>
                  <a:lnTo>
                    <a:pt x="61576" y="1651000"/>
                  </a:lnTo>
                  <a:cubicBezTo>
                    <a:pt x="27568" y="1651000"/>
                    <a:pt x="0" y="1623432"/>
                    <a:pt x="0" y="1589424"/>
                  </a:cubicBezTo>
                  <a:lnTo>
                    <a:pt x="0" y="61576"/>
                  </a:lnTo>
                  <a:cubicBezTo>
                    <a:pt x="0" y="27568"/>
                    <a:pt x="27568" y="0"/>
                    <a:pt x="61576" y="0"/>
                  </a:cubicBezTo>
                  <a:close/>
                </a:path>
              </a:pathLst>
            </a:custGeom>
            <a:solidFill>
              <a:srgbClr val="10254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9525"/>
              <a:ext cx="4191000" cy="164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3F8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2  RECOLECCIÓN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3F8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[Tiempo aprox.]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620250" y="6953250"/>
            <a:ext cx="3143250" cy="1238250"/>
            <a:chOff x="0" y="0"/>
            <a:chExt cx="4191000" cy="1651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191000" cy="1651000"/>
            </a:xfrm>
            <a:custGeom>
              <a:avLst/>
              <a:gdLst/>
              <a:ahLst/>
              <a:cxnLst/>
              <a:rect l="l" t="t" r="r" b="b"/>
              <a:pathLst>
                <a:path w="4191000" h="1651000">
                  <a:moveTo>
                    <a:pt x="61576" y="0"/>
                  </a:moveTo>
                  <a:lnTo>
                    <a:pt x="4129424" y="0"/>
                  </a:lnTo>
                  <a:cubicBezTo>
                    <a:pt x="4163432" y="0"/>
                    <a:pt x="4191000" y="27568"/>
                    <a:pt x="4191000" y="61576"/>
                  </a:cubicBezTo>
                  <a:lnTo>
                    <a:pt x="4191000" y="1589424"/>
                  </a:lnTo>
                  <a:cubicBezTo>
                    <a:pt x="4191000" y="1623432"/>
                    <a:pt x="4163432" y="1651000"/>
                    <a:pt x="4129424" y="1651000"/>
                  </a:cubicBezTo>
                  <a:lnTo>
                    <a:pt x="61576" y="1651000"/>
                  </a:lnTo>
                  <a:cubicBezTo>
                    <a:pt x="27568" y="1651000"/>
                    <a:pt x="0" y="1623432"/>
                    <a:pt x="0" y="1589424"/>
                  </a:cubicBezTo>
                  <a:lnTo>
                    <a:pt x="0" y="61576"/>
                  </a:lnTo>
                  <a:cubicBezTo>
                    <a:pt x="0" y="27568"/>
                    <a:pt x="27568" y="0"/>
                    <a:pt x="61576" y="0"/>
                  </a:cubicBezTo>
                  <a:close/>
                </a:path>
              </a:pathLst>
            </a:custGeom>
            <a:solidFill>
              <a:srgbClr val="10254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9525"/>
              <a:ext cx="4191000" cy="164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3F8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3  ANÁLISIS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3F8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[Tiempo aprox.]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3858875" y="6953250"/>
            <a:ext cx="3143250" cy="1238250"/>
            <a:chOff x="0" y="0"/>
            <a:chExt cx="4191000" cy="1651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191000" cy="1651000"/>
            </a:xfrm>
            <a:custGeom>
              <a:avLst/>
              <a:gdLst/>
              <a:ahLst/>
              <a:cxnLst/>
              <a:rect l="l" t="t" r="r" b="b"/>
              <a:pathLst>
                <a:path w="4191000" h="1651000">
                  <a:moveTo>
                    <a:pt x="61576" y="0"/>
                  </a:moveTo>
                  <a:lnTo>
                    <a:pt x="4129424" y="0"/>
                  </a:lnTo>
                  <a:cubicBezTo>
                    <a:pt x="4163432" y="0"/>
                    <a:pt x="4191000" y="27568"/>
                    <a:pt x="4191000" y="61576"/>
                  </a:cubicBezTo>
                  <a:lnTo>
                    <a:pt x="4191000" y="1589424"/>
                  </a:lnTo>
                  <a:cubicBezTo>
                    <a:pt x="4191000" y="1623432"/>
                    <a:pt x="4163432" y="1651000"/>
                    <a:pt x="4129424" y="1651000"/>
                  </a:cubicBezTo>
                  <a:lnTo>
                    <a:pt x="61576" y="1651000"/>
                  </a:lnTo>
                  <a:cubicBezTo>
                    <a:pt x="27568" y="1651000"/>
                    <a:pt x="0" y="1623432"/>
                    <a:pt x="0" y="1589424"/>
                  </a:cubicBezTo>
                  <a:lnTo>
                    <a:pt x="0" y="61576"/>
                  </a:lnTo>
                  <a:cubicBezTo>
                    <a:pt x="0" y="27568"/>
                    <a:pt x="27568" y="0"/>
                    <a:pt x="61576" y="0"/>
                  </a:cubicBezTo>
                  <a:close/>
                </a:path>
              </a:pathLst>
            </a:custGeom>
            <a:solidFill>
              <a:srgbClr val="3478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9525"/>
              <a:ext cx="4191000" cy="164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3F8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4  VALIDACIÓN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3F8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[Tiempo aprox.]</a:t>
              </a:r>
            </a:p>
          </p:txBody>
        </p:sp>
      </p:grpSp>
      <p:sp>
        <p:nvSpPr>
          <p:cNvPr id="25" name="AutoShape 25"/>
          <p:cNvSpPr/>
          <p:nvPr/>
        </p:nvSpPr>
        <p:spPr>
          <a:xfrm>
            <a:off x="4286250" y="7572375"/>
            <a:ext cx="1095375" cy="0"/>
          </a:xfrm>
          <a:prstGeom prst="line">
            <a:avLst/>
          </a:prstGeom>
          <a:ln w="38100" cap="flat">
            <a:solidFill>
              <a:srgbClr val="31D7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26" name="AutoShape 26"/>
          <p:cNvSpPr/>
          <p:nvPr/>
        </p:nvSpPr>
        <p:spPr>
          <a:xfrm>
            <a:off x="8524875" y="7572375"/>
            <a:ext cx="1095375" cy="0"/>
          </a:xfrm>
          <a:prstGeom prst="line">
            <a:avLst/>
          </a:prstGeom>
          <a:ln w="38100" cap="flat">
            <a:solidFill>
              <a:srgbClr val="31D7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27" name="AutoShape 27"/>
          <p:cNvSpPr/>
          <p:nvPr/>
        </p:nvSpPr>
        <p:spPr>
          <a:xfrm>
            <a:off x="12763500" y="7572375"/>
            <a:ext cx="1095375" cy="0"/>
          </a:xfrm>
          <a:prstGeom prst="line">
            <a:avLst/>
          </a:prstGeom>
          <a:ln w="38100" cap="flat">
            <a:solidFill>
              <a:srgbClr val="31D7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pic>
        <p:nvPicPr>
          <p:cNvPr id="28" name="Picture 2" descr="Símbolos Institucionales – Institución Educativa John F. Kennedy">
            <a:extLst>
              <a:ext uri="{FF2B5EF4-FFF2-40B4-BE49-F238E27FC236}">
                <a16:creationId xmlns:a16="http://schemas.microsoft.com/office/drawing/2014/main" id="{DCD7B521-8FA7-943E-384C-B9357C0413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3400" y="253365"/>
            <a:ext cx="198120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714375"/>
            <a:ext cx="14287500" cy="587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 b="1">
                <a:solidFill>
                  <a:srgbClr val="F3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Resultado OE1 · [Título corto del OE1]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333500"/>
            <a:ext cx="150495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A9BDD2"/>
                </a:solidFill>
                <a:latin typeface="IBM Plex Sans"/>
                <a:ea typeface="IBM Plex Sans"/>
                <a:cs typeface="IBM Plex Sans"/>
                <a:sym typeface="IBM Plex Sans"/>
              </a:rPr>
              <a:t>[Texto OE1]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143000" y="2238375"/>
            <a:ext cx="16002000" cy="5810250"/>
            <a:chOff x="0" y="0"/>
            <a:chExt cx="21336000" cy="7747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336000" cy="7747000"/>
            </a:xfrm>
            <a:custGeom>
              <a:avLst/>
              <a:gdLst/>
              <a:ahLst/>
              <a:cxnLst/>
              <a:rect l="l" t="t" r="r" b="b"/>
              <a:pathLst>
                <a:path w="21336000" h="7747000">
                  <a:moveTo>
                    <a:pt x="0" y="0"/>
                  </a:moveTo>
                  <a:lnTo>
                    <a:pt x="21336000" y="0"/>
                  </a:lnTo>
                  <a:lnTo>
                    <a:pt x="21336000" y="7747000"/>
                  </a:lnTo>
                  <a:lnTo>
                    <a:pt x="0" y="7747000"/>
                  </a:lnTo>
                  <a:close/>
                </a:path>
              </a:pathLst>
            </a:custGeom>
            <a:solidFill>
              <a:srgbClr val="0D2039"/>
            </a:solidFill>
            <a:ln w="9525" cap="sq">
              <a:solidFill>
                <a:srgbClr val="285078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336000" cy="778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>
            <a:off x="5143500" y="2238375"/>
            <a:ext cx="0" cy="5810250"/>
          </a:xfrm>
          <a:prstGeom prst="line">
            <a:avLst/>
          </a:prstGeom>
          <a:ln w="19050" cap="flat">
            <a:solidFill>
              <a:srgbClr val="28507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8" name="AutoShape 8"/>
          <p:cNvSpPr/>
          <p:nvPr/>
        </p:nvSpPr>
        <p:spPr>
          <a:xfrm>
            <a:off x="1143000" y="3686175"/>
            <a:ext cx="16002000" cy="0"/>
          </a:xfrm>
          <a:prstGeom prst="line">
            <a:avLst/>
          </a:prstGeom>
          <a:ln w="19050" cap="flat">
            <a:solidFill>
              <a:srgbClr val="28507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9" name="AutoShape 9"/>
          <p:cNvSpPr/>
          <p:nvPr/>
        </p:nvSpPr>
        <p:spPr>
          <a:xfrm>
            <a:off x="9144000" y="2238375"/>
            <a:ext cx="0" cy="5810250"/>
          </a:xfrm>
          <a:prstGeom prst="line">
            <a:avLst/>
          </a:prstGeom>
          <a:ln w="19050" cap="flat">
            <a:solidFill>
              <a:srgbClr val="28507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0" name="AutoShape 10"/>
          <p:cNvSpPr/>
          <p:nvPr/>
        </p:nvSpPr>
        <p:spPr>
          <a:xfrm>
            <a:off x="1143000" y="5133975"/>
            <a:ext cx="16002000" cy="0"/>
          </a:xfrm>
          <a:prstGeom prst="line">
            <a:avLst/>
          </a:prstGeom>
          <a:ln w="19050" cap="flat">
            <a:solidFill>
              <a:srgbClr val="28507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1" name="AutoShape 11"/>
          <p:cNvSpPr/>
          <p:nvPr/>
        </p:nvSpPr>
        <p:spPr>
          <a:xfrm>
            <a:off x="13144500" y="2238375"/>
            <a:ext cx="0" cy="5810250"/>
          </a:xfrm>
          <a:prstGeom prst="line">
            <a:avLst/>
          </a:prstGeom>
          <a:ln w="19050" cap="flat">
            <a:solidFill>
              <a:srgbClr val="28507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2" name="AutoShape 12"/>
          <p:cNvSpPr/>
          <p:nvPr/>
        </p:nvSpPr>
        <p:spPr>
          <a:xfrm>
            <a:off x="1143000" y="6581775"/>
            <a:ext cx="16002000" cy="0"/>
          </a:xfrm>
          <a:prstGeom prst="line">
            <a:avLst/>
          </a:prstGeom>
          <a:ln w="19050" cap="flat">
            <a:solidFill>
              <a:srgbClr val="28507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Box 13"/>
          <p:cNvSpPr txBox="1"/>
          <p:nvPr/>
        </p:nvSpPr>
        <p:spPr>
          <a:xfrm>
            <a:off x="2190750" y="4429125"/>
            <a:ext cx="13906500" cy="480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0"/>
              </a:lnSpc>
            </a:pPr>
            <a:r>
              <a:rPr lang="en-US" sz="2850" b="1">
                <a:solidFill>
                  <a:srgbClr val="F3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[Descripción del gráfico o tabla]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143000" y="8429625"/>
            <a:ext cx="16002000" cy="1047750"/>
            <a:chOff x="0" y="0"/>
            <a:chExt cx="21336000" cy="1397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336000" cy="1397000"/>
            </a:xfrm>
            <a:custGeom>
              <a:avLst/>
              <a:gdLst/>
              <a:ahLst/>
              <a:cxnLst/>
              <a:rect l="l" t="t" r="r" b="b"/>
              <a:pathLst>
                <a:path w="21336000" h="1397000">
                  <a:moveTo>
                    <a:pt x="0" y="0"/>
                  </a:moveTo>
                  <a:lnTo>
                    <a:pt x="21336000" y="0"/>
                  </a:lnTo>
                  <a:lnTo>
                    <a:pt x="213360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3478FF"/>
            </a:solidFill>
            <a:ln w="9525" cap="sq">
              <a:solidFill>
                <a:srgbClr val="285078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1336000" cy="143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428750" y="8724900"/>
            <a:ext cx="1543050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1">
                <a:solidFill>
                  <a:srgbClr val="F3F8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HALLAZGO CLAVE  ·  [Hallazgo clave OE1]</a:t>
            </a:r>
          </a:p>
        </p:txBody>
      </p:sp>
      <p:pic>
        <p:nvPicPr>
          <p:cNvPr id="18" name="Picture 2" descr="Símbolos Institucionales – Institución Educativa John F. Kennedy">
            <a:extLst>
              <a:ext uri="{FF2B5EF4-FFF2-40B4-BE49-F238E27FC236}">
                <a16:creationId xmlns:a16="http://schemas.microsoft.com/office/drawing/2014/main" id="{96CC4855-55F5-0150-D296-D5C8245838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3400" y="253365"/>
            <a:ext cx="198120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714375"/>
            <a:ext cx="14287500" cy="587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 b="1">
                <a:solidFill>
                  <a:srgbClr val="F3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Resultado OE2 · [Título corto del OE2]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333500"/>
            <a:ext cx="150495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A9BDD2"/>
                </a:solidFill>
                <a:latin typeface="IBM Plex Sans"/>
                <a:ea typeface="IBM Plex Sans"/>
                <a:cs typeface="IBM Plex Sans"/>
                <a:sym typeface="IBM Plex Sans"/>
              </a:rPr>
              <a:t>[Texto OE2]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47750" y="2381250"/>
            <a:ext cx="7239000" cy="5429250"/>
            <a:chOff x="0" y="0"/>
            <a:chExt cx="9652000" cy="7239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652000" cy="7239000"/>
            </a:xfrm>
            <a:custGeom>
              <a:avLst/>
              <a:gdLst/>
              <a:ahLst/>
              <a:cxnLst/>
              <a:rect l="l" t="t" r="r" b="b"/>
              <a:pathLst>
                <a:path w="9652000" h="7239000">
                  <a:moveTo>
                    <a:pt x="0" y="0"/>
                  </a:moveTo>
                  <a:lnTo>
                    <a:pt x="9652000" y="0"/>
                  </a:lnTo>
                  <a:lnTo>
                    <a:pt x="9652000" y="7239000"/>
                  </a:lnTo>
                  <a:lnTo>
                    <a:pt x="0" y="7239000"/>
                  </a:lnTo>
                  <a:close/>
                </a:path>
              </a:pathLst>
            </a:custGeom>
            <a:solidFill>
              <a:srgbClr val="102541"/>
            </a:solidFill>
            <a:ln w="9525" cap="sq">
              <a:solidFill>
                <a:srgbClr val="285078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652000" cy="727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001250" y="2381250"/>
            <a:ext cx="7239000" cy="5429250"/>
            <a:chOff x="0" y="0"/>
            <a:chExt cx="9652000" cy="7239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652000" cy="7239000"/>
            </a:xfrm>
            <a:custGeom>
              <a:avLst/>
              <a:gdLst/>
              <a:ahLst/>
              <a:cxnLst/>
              <a:rect l="l" t="t" r="r" b="b"/>
              <a:pathLst>
                <a:path w="9652000" h="7239000">
                  <a:moveTo>
                    <a:pt x="0" y="0"/>
                  </a:moveTo>
                  <a:lnTo>
                    <a:pt x="9652000" y="0"/>
                  </a:lnTo>
                  <a:lnTo>
                    <a:pt x="9652000" y="7239000"/>
                  </a:lnTo>
                  <a:lnTo>
                    <a:pt x="0" y="7239000"/>
                  </a:lnTo>
                  <a:close/>
                </a:path>
              </a:pathLst>
            </a:custGeom>
            <a:solidFill>
              <a:srgbClr val="102541"/>
            </a:solidFill>
            <a:ln w="9525" cap="sq">
              <a:solidFill>
                <a:srgbClr val="285078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9652000" cy="727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524875" y="4333875"/>
            <a:ext cx="1238250" cy="1238250"/>
            <a:chOff x="0" y="0"/>
            <a:chExt cx="1651000" cy="1651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51000" cy="1651000"/>
            </a:xfrm>
            <a:custGeom>
              <a:avLst/>
              <a:gdLst/>
              <a:ahLst/>
              <a:cxnLst/>
              <a:rect l="l" t="t" r="r" b="b"/>
              <a:pathLst>
                <a:path w="1651000" h="1651000">
                  <a:moveTo>
                    <a:pt x="156308" y="0"/>
                  </a:moveTo>
                  <a:lnTo>
                    <a:pt x="1494692" y="0"/>
                  </a:lnTo>
                  <a:cubicBezTo>
                    <a:pt x="1581019" y="0"/>
                    <a:pt x="1651000" y="69981"/>
                    <a:pt x="1651000" y="156308"/>
                  </a:cubicBezTo>
                  <a:lnTo>
                    <a:pt x="1651000" y="1494692"/>
                  </a:lnTo>
                  <a:cubicBezTo>
                    <a:pt x="1651000" y="1581019"/>
                    <a:pt x="1581019" y="1651000"/>
                    <a:pt x="1494692" y="1651000"/>
                  </a:cubicBezTo>
                  <a:lnTo>
                    <a:pt x="156308" y="1651000"/>
                  </a:lnTo>
                  <a:cubicBezTo>
                    <a:pt x="69981" y="1651000"/>
                    <a:pt x="0" y="1581019"/>
                    <a:pt x="0" y="1494692"/>
                  </a:cubicBezTo>
                  <a:lnTo>
                    <a:pt x="0" y="156308"/>
                  </a:lnTo>
                  <a:cubicBezTo>
                    <a:pt x="0" y="69981"/>
                    <a:pt x="69981" y="0"/>
                    <a:pt x="156308" y="0"/>
                  </a:cubicBezTo>
                  <a:close/>
                </a:path>
              </a:pathLst>
            </a:custGeom>
            <a:solidFill>
              <a:srgbClr val="3478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1651000" cy="164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3F8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↔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619250" y="4048125"/>
            <a:ext cx="6096000" cy="878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1">
                <a:solidFill>
                  <a:srgbClr val="F3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[Descripción de datos/comparativos/mapa]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572750" y="4048125"/>
            <a:ext cx="6096000" cy="878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1">
                <a:solidFill>
                  <a:srgbClr val="F3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[Descripción de datos/comparativos/mapa]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143000" y="8382000"/>
            <a:ext cx="16002000" cy="1047750"/>
            <a:chOff x="0" y="0"/>
            <a:chExt cx="21336000" cy="1397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336000" cy="1397000"/>
            </a:xfrm>
            <a:custGeom>
              <a:avLst/>
              <a:gdLst/>
              <a:ahLst/>
              <a:cxnLst/>
              <a:rect l="l" t="t" r="r" b="b"/>
              <a:pathLst>
                <a:path w="21336000" h="1397000">
                  <a:moveTo>
                    <a:pt x="0" y="0"/>
                  </a:moveTo>
                  <a:lnTo>
                    <a:pt x="21336000" y="0"/>
                  </a:lnTo>
                  <a:lnTo>
                    <a:pt x="213360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102541"/>
            </a:solidFill>
            <a:ln w="9525" cap="sq">
              <a:solidFill>
                <a:srgbClr val="285078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1336000" cy="143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809750" y="8648700"/>
            <a:ext cx="1466850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1">
                <a:solidFill>
                  <a:srgbClr val="F3F8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SÍNTESIS  ·  [Síntesis resultado OE2]</a:t>
            </a:r>
          </a:p>
        </p:txBody>
      </p:sp>
      <p:pic>
        <p:nvPicPr>
          <p:cNvPr id="19" name="Picture 2" descr="Símbolos Institucionales – Institución Educativa John F. Kennedy">
            <a:extLst>
              <a:ext uri="{FF2B5EF4-FFF2-40B4-BE49-F238E27FC236}">
                <a16:creationId xmlns:a16="http://schemas.microsoft.com/office/drawing/2014/main" id="{3C967E0D-6B50-C65A-2A51-AC5096E73F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3400" y="253365"/>
            <a:ext cx="198120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714375"/>
            <a:ext cx="14287500" cy="587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 b="1">
                <a:solidFill>
                  <a:srgbClr val="F3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Resultado OE3 · [Título corto / Propuesta]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333500"/>
            <a:ext cx="150495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A9BDD2"/>
                </a:solidFill>
                <a:latin typeface="IBM Plex Sans"/>
                <a:ea typeface="IBM Plex Sans"/>
                <a:cs typeface="IBM Plex Sans"/>
                <a:sym typeface="IBM Plex Sans"/>
              </a:rPr>
              <a:t>[Texto OE3]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143000" y="2286000"/>
            <a:ext cx="10668000" cy="5810250"/>
            <a:chOff x="0" y="0"/>
            <a:chExt cx="14224000" cy="7747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224000" cy="7747000"/>
            </a:xfrm>
            <a:custGeom>
              <a:avLst/>
              <a:gdLst/>
              <a:ahLst/>
              <a:cxnLst/>
              <a:rect l="l" t="t" r="r" b="b"/>
              <a:pathLst>
                <a:path w="14224000" h="7747000">
                  <a:moveTo>
                    <a:pt x="0" y="0"/>
                  </a:moveTo>
                  <a:lnTo>
                    <a:pt x="14224000" y="0"/>
                  </a:lnTo>
                  <a:lnTo>
                    <a:pt x="14224000" y="7747000"/>
                  </a:lnTo>
                  <a:lnTo>
                    <a:pt x="0" y="7747000"/>
                  </a:lnTo>
                  <a:close/>
                </a:path>
              </a:pathLst>
            </a:custGeom>
            <a:solidFill>
              <a:srgbClr val="0D2039"/>
            </a:solidFill>
            <a:ln w="9525" cap="sq">
              <a:solidFill>
                <a:srgbClr val="285078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4224000" cy="778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381250" y="3952875"/>
            <a:ext cx="8572500" cy="984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0"/>
              </a:lnSpc>
            </a:pPr>
            <a:r>
              <a:rPr lang="en-US" sz="2850" b="1">
                <a:solidFill>
                  <a:srgbClr val="F3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[Visual o descripción del producto/propuesta]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2668250" y="3810000"/>
            <a:ext cx="3143250" cy="1143000"/>
            <a:chOff x="0" y="0"/>
            <a:chExt cx="4191000" cy="1524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191000" cy="1524000"/>
            </a:xfrm>
            <a:custGeom>
              <a:avLst/>
              <a:gdLst/>
              <a:ahLst/>
              <a:cxnLst/>
              <a:rect l="l" t="t" r="r" b="b"/>
              <a:pathLst>
                <a:path w="4191000" h="1524000">
                  <a:moveTo>
                    <a:pt x="61576" y="0"/>
                  </a:moveTo>
                  <a:lnTo>
                    <a:pt x="4129424" y="0"/>
                  </a:lnTo>
                  <a:cubicBezTo>
                    <a:pt x="4163432" y="0"/>
                    <a:pt x="4191000" y="27568"/>
                    <a:pt x="4191000" y="61576"/>
                  </a:cubicBezTo>
                  <a:lnTo>
                    <a:pt x="4191000" y="1462424"/>
                  </a:lnTo>
                  <a:cubicBezTo>
                    <a:pt x="4191000" y="1496432"/>
                    <a:pt x="4163432" y="1524000"/>
                    <a:pt x="4129424" y="1524000"/>
                  </a:cubicBezTo>
                  <a:lnTo>
                    <a:pt x="61576" y="1524000"/>
                  </a:lnTo>
                  <a:cubicBezTo>
                    <a:pt x="27568" y="1524000"/>
                    <a:pt x="0" y="1496432"/>
                    <a:pt x="0" y="1462424"/>
                  </a:cubicBezTo>
                  <a:lnTo>
                    <a:pt x="0" y="61576"/>
                  </a:lnTo>
                  <a:cubicBezTo>
                    <a:pt x="0" y="27568"/>
                    <a:pt x="27568" y="0"/>
                    <a:pt x="61576" y="0"/>
                  </a:cubicBezTo>
                  <a:close/>
                </a:path>
              </a:pathLst>
            </a:custGeom>
            <a:solidFill>
              <a:srgbClr val="10254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9525"/>
              <a:ext cx="4191000" cy="1514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3F8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COMPONENTE 01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668250" y="5334000"/>
            <a:ext cx="3143250" cy="1143000"/>
            <a:chOff x="0" y="0"/>
            <a:chExt cx="4191000" cy="1524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191000" cy="1524000"/>
            </a:xfrm>
            <a:custGeom>
              <a:avLst/>
              <a:gdLst/>
              <a:ahLst/>
              <a:cxnLst/>
              <a:rect l="l" t="t" r="r" b="b"/>
              <a:pathLst>
                <a:path w="4191000" h="1524000">
                  <a:moveTo>
                    <a:pt x="61576" y="0"/>
                  </a:moveTo>
                  <a:lnTo>
                    <a:pt x="4129424" y="0"/>
                  </a:lnTo>
                  <a:cubicBezTo>
                    <a:pt x="4163432" y="0"/>
                    <a:pt x="4191000" y="27568"/>
                    <a:pt x="4191000" y="61576"/>
                  </a:cubicBezTo>
                  <a:lnTo>
                    <a:pt x="4191000" y="1462424"/>
                  </a:lnTo>
                  <a:cubicBezTo>
                    <a:pt x="4191000" y="1496432"/>
                    <a:pt x="4163432" y="1524000"/>
                    <a:pt x="4129424" y="1524000"/>
                  </a:cubicBezTo>
                  <a:lnTo>
                    <a:pt x="61576" y="1524000"/>
                  </a:lnTo>
                  <a:cubicBezTo>
                    <a:pt x="27568" y="1524000"/>
                    <a:pt x="0" y="1496432"/>
                    <a:pt x="0" y="1462424"/>
                  </a:cubicBezTo>
                  <a:lnTo>
                    <a:pt x="0" y="61576"/>
                  </a:lnTo>
                  <a:cubicBezTo>
                    <a:pt x="0" y="27568"/>
                    <a:pt x="27568" y="0"/>
                    <a:pt x="61576" y="0"/>
                  </a:cubicBezTo>
                  <a:close/>
                </a:path>
              </a:pathLst>
            </a:custGeom>
            <a:solidFill>
              <a:srgbClr val="10254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4191000" cy="1514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3F8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COMPONENTE 02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668250" y="6858000"/>
            <a:ext cx="3143250" cy="1143000"/>
            <a:chOff x="0" y="0"/>
            <a:chExt cx="4191000" cy="1524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191000" cy="1524000"/>
            </a:xfrm>
            <a:custGeom>
              <a:avLst/>
              <a:gdLst/>
              <a:ahLst/>
              <a:cxnLst/>
              <a:rect l="l" t="t" r="r" b="b"/>
              <a:pathLst>
                <a:path w="4191000" h="1524000">
                  <a:moveTo>
                    <a:pt x="61576" y="0"/>
                  </a:moveTo>
                  <a:lnTo>
                    <a:pt x="4129424" y="0"/>
                  </a:lnTo>
                  <a:cubicBezTo>
                    <a:pt x="4163432" y="0"/>
                    <a:pt x="4191000" y="27568"/>
                    <a:pt x="4191000" y="61576"/>
                  </a:cubicBezTo>
                  <a:lnTo>
                    <a:pt x="4191000" y="1462424"/>
                  </a:lnTo>
                  <a:cubicBezTo>
                    <a:pt x="4191000" y="1496432"/>
                    <a:pt x="4163432" y="1524000"/>
                    <a:pt x="4129424" y="1524000"/>
                  </a:cubicBezTo>
                  <a:lnTo>
                    <a:pt x="61576" y="1524000"/>
                  </a:lnTo>
                  <a:cubicBezTo>
                    <a:pt x="27568" y="1524000"/>
                    <a:pt x="0" y="1496432"/>
                    <a:pt x="0" y="1462424"/>
                  </a:cubicBezTo>
                  <a:lnTo>
                    <a:pt x="0" y="61576"/>
                  </a:lnTo>
                  <a:cubicBezTo>
                    <a:pt x="0" y="27568"/>
                    <a:pt x="27568" y="0"/>
                    <a:pt x="61576" y="0"/>
                  </a:cubicBezTo>
                  <a:close/>
                </a:path>
              </a:pathLst>
            </a:custGeom>
            <a:solidFill>
              <a:srgbClr val="3478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9525"/>
              <a:ext cx="4191000" cy="1514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3F8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COMPONENTE 03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192000" y="2914650"/>
            <a:ext cx="409575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1">
                <a:solidFill>
                  <a:srgbClr val="31D7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PRODUCTO · PROTOTIPO · PLAN · GUÍA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143000" y="8429625"/>
            <a:ext cx="16002000" cy="1047750"/>
            <a:chOff x="0" y="0"/>
            <a:chExt cx="21336000" cy="1397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336000" cy="1397000"/>
            </a:xfrm>
            <a:custGeom>
              <a:avLst/>
              <a:gdLst/>
              <a:ahLst/>
              <a:cxnLst/>
              <a:rect l="l" t="t" r="r" b="b"/>
              <a:pathLst>
                <a:path w="21336000" h="1397000">
                  <a:moveTo>
                    <a:pt x="0" y="0"/>
                  </a:moveTo>
                  <a:lnTo>
                    <a:pt x="21336000" y="0"/>
                  </a:lnTo>
                  <a:lnTo>
                    <a:pt x="213360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3478FF"/>
            </a:solidFill>
            <a:ln w="9525" cap="sq">
              <a:solidFill>
                <a:srgbClr val="285078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1336000" cy="143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524000" y="8724900"/>
            <a:ext cx="1524000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1">
                <a:solidFill>
                  <a:srgbClr val="F3F8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APORTE / IMPACTO  ·  [Aporte/Impacto OE3]</a:t>
            </a:r>
          </a:p>
        </p:txBody>
      </p:sp>
      <p:pic>
        <p:nvPicPr>
          <p:cNvPr id="22" name="Picture 2" descr="Símbolos Institucionales – Institución Educativa John F. Kennedy">
            <a:extLst>
              <a:ext uri="{FF2B5EF4-FFF2-40B4-BE49-F238E27FC236}">
                <a16:creationId xmlns:a16="http://schemas.microsoft.com/office/drawing/2014/main" id="{23B9B00F-C449-8369-F3E1-33077391C3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3400" y="253365"/>
            <a:ext cx="198120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714375"/>
            <a:ext cx="14287500" cy="587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 b="1">
                <a:solidFill>
                  <a:srgbClr val="F3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Discusión de hallazgos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333500"/>
            <a:ext cx="150495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A9BDD2"/>
                </a:solidFill>
                <a:latin typeface="IBM Plex Sans"/>
                <a:ea typeface="IBM Plex Sans"/>
                <a:cs typeface="IBM Plex Sans"/>
                <a:sym typeface="IBM Plex Sans"/>
              </a:rPr>
              <a:t>Triangulación entre evidencia, teoría y antecedentes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47750" y="2286000"/>
            <a:ext cx="7715250" cy="4286250"/>
            <a:chOff x="0" y="0"/>
            <a:chExt cx="10287000" cy="5715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287000" cy="5715000"/>
            </a:xfrm>
            <a:custGeom>
              <a:avLst/>
              <a:gdLst/>
              <a:ahLst/>
              <a:cxnLst/>
              <a:rect l="l" t="t" r="r" b="b"/>
              <a:pathLst>
                <a:path w="10287000" h="5715000">
                  <a:moveTo>
                    <a:pt x="0" y="0"/>
                  </a:moveTo>
                  <a:lnTo>
                    <a:pt x="10287000" y="0"/>
                  </a:lnTo>
                  <a:lnTo>
                    <a:pt x="10287000" y="5715000"/>
                  </a:lnTo>
                  <a:lnTo>
                    <a:pt x="0" y="5715000"/>
                  </a:lnTo>
                  <a:close/>
                </a:path>
              </a:pathLst>
            </a:custGeom>
            <a:solidFill>
              <a:srgbClr val="102541"/>
            </a:solidFill>
            <a:ln w="9525" cap="sq">
              <a:solidFill>
                <a:srgbClr val="285078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0287000" cy="575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286000" y="9525000"/>
            <a:ext cx="7715250" cy="4286250"/>
            <a:chOff x="0" y="0"/>
            <a:chExt cx="10287000" cy="5715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287000" cy="5715000"/>
            </a:xfrm>
            <a:custGeom>
              <a:avLst/>
              <a:gdLst/>
              <a:ahLst/>
              <a:cxnLst/>
              <a:rect l="l" t="t" r="r" b="b"/>
              <a:pathLst>
                <a:path w="10287000" h="5715000">
                  <a:moveTo>
                    <a:pt x="0" y="0"/>
                  </a:moveTo>
                  <a:lnTo>
                    <a:pt x="10287000" y="0"/>
                  </a:lnTo>
                  <a:lnTo>
                    <a:pt x="10287000" y="5715000"/>
                  </a:lnTo>
                  <a:lnTo>
                    <a:pt x="0" y="5715000"/>
                  </a:lnTo>
                  <a:close/>
                </a:path>
              </a:pathLst>
            </a:custGeom>
            <a:solidFill>
              <a:srgbClr val="102541"/>
            </a:solidFill>
            <a:ln w="9525" cap="sq">
              <a:solidFill>
                <a:srgbClr val="285078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0287000" cy="575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524875" y="3905250"/>
            <a:ext cx="1238250" cy="1238250"/>
            <a:chOff x="0" y="0"/>
            <a:chExt cx="1651000" cy="1651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51000" cy="1651000"/>
            </a:xfrm>
            <a:custGeom>
              <a:avLst/>
              <a:gdLst/>
              <a:ahLst/>
              <a:cxnLst/>
              <a:rect l="l" t="t" r="r" b="b"/>
              <a:pathLst>
                <a:path w="1651000" h="1651000">
                  <a:moveTo>
                    <a:pt x="156308" y="0"/>
                  </a:moveTo>
                  <a:lnTo>
                    <a:pt x="1494692" y="0"/>
                  </a:lnTo>
                  <a:cubicBezTo>
                    <a:pt x="1581019" y="0"/>
                    <a:pt x="1651000" y="69981"/>
                    <a:pt x="1651000" y="156308"/>
                  </a:cubicBezTo>
                  <a:lnTo>
                    <a:pt x="1651000" y="1494692"/>
                  </a:lnTo>
                  <a:cubicBezTo>
                    <a:pt x="1651000" y="1581019"/>
                    <a:pt x="1581019" y="1651000"/>
                    <a:pt x="1494692" y="1651000"/>
                  </a:cubicBezTo>
                  <a:lnTo>
                    <a:pt x="156308" y="1651000"/>
                  </a:lnTo>
                  <a:cubicBezTo>
                    <a:pt x="69981" y="1651000"/>
                    <a:pt x="0" y="1581019"/>
                    <a:pt x="0" y="1494692"/>
                  </a:cubicBezTo>
                  <a:lnTo>
                    <a:pt x="0" y="156308"/>
                  </a:lnTo>
                  <a:cubicBezTo>
                    <a:pt x="0" y="69981"/>
                    <a:pt x="69981" y="0"/>
                    <a:pt x="156308" y="0"/>
                  </a:cubicBezTo>
                  <a:close/>
                </a:path>
              </a:pathLst>
            </a:custGeom>
            <a:solidFill>
              <a:srgbClr val="3478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1651000" cy="164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3F8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×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619250" y="2819400"/>
            <a:ext cx="6572250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MIS HALLAZGOS</a:t>
            </a:r>
          </a:p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[Resumen hallazgos propios]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334625" y="2183130"/>
            <a:ext cx="6572250" cy="4346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dirty="0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LITERATURA PREVIA</a:t>
            </a:r>
          </a:p>
          <a:p>
            <a:pPr algn="l">
              <a:lnSpc>
                <a:spcPts val="3149"/>
              </a:lnSpc>
            </a:pPr>
            <a:r>
              <a:rPr lang="en-US" sz="2250" dirty="0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[</a:t>
            </a:r>
            <a:r>
              <a:rPr lang="en-US" sz="2250" dirty="0" err="1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Resumen</a:t>
            </a:r>
            <a:r>
              <a:rPr lang="en-US" sz="2250" dirty="0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de </a:t>
            </a:r>
            <a:r>
              <a:rPr lang="en-US" sz="2250" dirty="0" err="1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literatura</a:t>
            </a:r>
            <a:r>
              <a:rPr lang="en-US" sz="2250" dirty="0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o </a:t>
            </a:r>
            <a:r>
              <a:rPr lang="en-US" sz="2250" dirty="0" err="1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antecedentes</a:t>
            </a:r>
            <a:r>
              <a:rPr lang="en-US" sz="2250" dirty="0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]</a:t>
            </a:r>
          </a:p>
          <a:p>
            <a:pPr>
              <a:lnSpc>
                <a:spcPts val="3149"/>
              </a:lnSpc>
            </a:pPr>
            <a:r>
              <a:rPr lang="es-MX" i="1" dirty="0">
                <a:solidFill>
                  <a:srgbClr val="F3F8FF"/>
                </a:solidFill>
                <a:latin typeface="IBM Plex Sans"/>
              </a:rPr>
              <a:t>Teorías base: Menciona brevemente los conceptos o modelos teóricos principales que usaste para analizar tu problema.</a:t>
            </a:r>
          </a:p>
          <a:p>
            <a:pPr>
              <a:lnSpc>
                <a:spcPts val="3149"/>
              </a:lnSpc>
            </a:pPr>
            <a:r>
              <a:rPr lang="es-MX" i="1" dirty="0">
                <a:solidFill>
                  <a:srgbClr val="F3F8FF"/>
                </a:solidFill>
                <a:latin typeface="IBM Plex Sans"/>
              </a:rPr>
              <a:t>Estudios previos: Resume los hallazgos de investigaciones similares o antecedentes (locales, nacionales o internacionales) directamente relacionados con tus variables.</a:t>
            </a:r>
          </a:p>
          <a:p>
            <a:pPr>
              <a:lnSpc>
                <a:spcPts val="3149"/>
              </a:lnSpc>
            </a:pPr>
            <a:r>
              <a:rPr lang="es-MX" i="1" dirty="0">
                <a:solidFill>
                  <a:srgbClr val="F3F8FF"/>
                </a:solidFill>
                <a:latin typeface="IBM Plex Sans"/>
              </a:rPr>
              <a:t>Posturas de autores: Destaca qué dicen los expertos sobre el tema (¿A qué conclusiones llegaron? ¿Qué soluciones o explicaciones proponen?).</a:t>
            </a:r>
          </a:p>
          <a:p>
            <a:pPr algn="l">
              <a:lnSpc>
                <a:spcPts val="3149"/>
              </a:lnSpc>
            </a:pPr>
            <a:endParaRPr lang="en-US" sz="2250" dirty="0">
              <a:solidFill>
                <a:srgbClr val="F3F8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1143000" y="7143750"/>
            <a:ext cx="16002000" cy="2095500"/>
            <a:chOff x="0" y="0"/>
            <a:chExt cx="21336000" cy="2794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336000" cy="2794000"/>
            </a:xfrm>
            <a:custGeom>
              <a:avLst/>
              <a:gdLst/>
              <a:ahLst/>
              <a:cxnLst/>
              <a:rect l="l" t="t" r="r" b="b"/>
              <a:pathLst>
                <a:path w="21336000" h="2794000">
                  <a:moveTo>
                    <a:pt x="0" y="0"/>
                  </a:moveTo>
                  <a:lnTo>
                    <a:pt x="21336000" y="0"/>
                  </a:lnTo>
                  <a:lnTo>
                    <a:pt x="21336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0D2039"/>
            </a:solidFill>
            <a:ln w="9525" cap="sq">
              <a:solidFill>
                <a:srgbClr val="285078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1336000" cy="283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190750" y="7572375"/>
            <a:ext cx="13906500" cy="75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 b="1">
                <a:solidFill>
                  <a:srgbClr val="F3F8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COINCIDENCIAS  ·  DISCREPANCIAS  ·  NOVEDADES</a:t>
            </a:r>
          </a:p>
          <a:p>
            <a:pPr algn="ctr">
              <a:lnSpc>
                <a:spcPts val="3045"/>
              </a:lnSpc>
            </a:pPr>
            <a:r>
              <a:rPr lang="en-US" sz="2175" b="1">
                <a:solidFill>
                  <a:srgbClr val="F3F8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[Principales puntos de contraste y aportes]</a:t>
            </a:r>
          </a:p>
        </p:txBody>
      </p:sp>
      <p:pic>
        <p:nvPicPr>
          <p:cNvPr id="19" name="Picture 2" descr="Símbolos Institucionales – Institución Educativa John F. Kennedy">
            <a:extLst>
              <a:ext uri="{FF2B5EF4-FFF2-40B4-BE49-F238E27FC236}">
                <a16:creationId xmlns:a16="http://schemas.microsoft.com/office/drawing/2014/main" id="{03799527-A86B-7DA6-9287-3B66D09D6D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3400" y="253365"/>
            <a:ext cx="198120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714375"/>
            <a:ext cx="14287500" cy="587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 b="1">
                <a:solidFill>
                  <a:srgbClr val="F3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333500"/>
            <a:ext cx="150495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A9BDD2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Respuesta integrada y trazable a los objetivos de investigación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47750" y="2571750"/>
            <a:ext cx="952500" cy="952500"/>
            <a:chOff x="0" y="0"/>
            <a:chExt cx="1270000" cy="127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70000" cy="1270000"/>
            </a:xfrm>
            <a:custGeom>
              <a:avLst/>
              <a:gdLst/>
              <a:ahLst/>
              <a:cxnLst/>
              <a:rect l="l" t="t" r="r" b="b"/>
              <a:pathLst>
                <a:path w="1270000" h="1270000">
                  <a:moveTo>
                    <a:pt x="203200" y="0"/>
                  </a:moveTo>
                  <a:lnTo>
                    <a:pt x="1066800" y="0"/>
                  </a:lnTo>
                  <a:cubicBezTo>
                    <a:pt x="1179024" y="0"/>
                    <a:pt x="1270000" y="90976"/>
                    <a:pt x="1270000" y="203200"/>
                  </a:cubicBezTo>
                  <a:lnTo>
                    <a:pt x="1270000" y="1066800"/>
                  </a:lnTo>
                  <a:cubicBezTo>
                    <a:pt x="1270000" y="1179024"/>
                    <a:pt x="1179024" y="1270000"/>
                    <a:pt x="1066800" y="1270000"/>
                  </a:cubicBezTo>
                  <a:lnTo>
                    <a:pt x="203200" y="1270000"/>
                  </a:lnTo>
                  <a:cubicBezTo>
                    <a:pt x="90976" y="1270000"/>
                    <a:pt x="0" y="1179024"/>
                    <a:pt x="0" y="1066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478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9525"/>
              <a:ext cx="1270000" cy="1260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3F8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OE1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190750" y="2571750"/>
            <a:ext cx="11525250" cy="1143000"/>
            <a:chOff x="0" y="0"/>
            <a:chExt cx="15367000" cy="1524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367000" cy="1524000"/>
            </a:xfrm>
            <a:custGeom>
              <a:avLst/>
              <a:gdLst/>
              <a:ahLst/>
              <a:cxnLst/>
              <a:rect l="l" t="t" r="r" b="b"/>
              <a:pathLst>
                <a:path w="15367000" h="1524000">
                  <a:moveTo>
                    <a:pt x="0" y="0"/>
                  </a:moveTo>
                  <a:lnTo>
                    <a:pt x="15367000" y="0"/>
                  </a:lnTo>
                  <a:lnTo>
                    <a:pt x="15367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102541"/>
            </a:solidFill>
            <a:ln w="9525" cap="sq">
              <a:solidFill>
                <a:srgbClr val="285078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5367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47750" y="4095750"/>
            <a:ext cx="952500" cy="952500"/>
            <a:chOff x="0" y="0"/>
            <a:chExt cx="1270000" cy="1270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70000" cy="1270000"/>
            </a:xfrm>
            <a:custGeom>
              <a:avLst/>
              <a:gdLst/>
              <a:ahLst/>
              <a:cxnLst/>
              <a:rect l="l" t="t" r="r" b="b"/>
              <a:pathLst>
                <a:path w="1270000" h="1270000">
                  <a:moveTo>
                    <a:pt x="203200" y="0"/>
                  </a:moveTo>
                  <a:lnTo>
                    <a:pt x="1066800" y="0"/>
                  </a:lnTo>
                  <a:cubicBezTo>
                    <a:pt x="1179024" y="0"/>
                    <a:pt x="1270000" y="90976"/>
                    <a:pt x="1270000" y="203200"/>
                  </a:cubicBezTo>
                  <a:lnTo>
                    <a:pt x="1270000" y="1066800"/>
                  </a:lnTo>
                  <a:cubicBezTo>
                    <a:pt x="1270000" y="1179024"/>
                    <a:pt x="1179024" y="1270000"/>
                    <a:pt x="1066800" y="1270000"/>
                  </a:cubicBezTo>
                  <a:lnTo>
                    <a:pt x="203200" y="1270000"/>
                  </a:lnTo>
                  <a:cubicBezTo>
                    <a:pt x="90976" y="1270000"/>
                    <a:pt x="0" y="1179024"/>
                    <a:pt x="0" y="1066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478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1270000" cy="1260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3F8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OE2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190750" y="4095750"/>
            <a:ext cx="11525250" cy="1143000"/>
            <a:chOff x="0" y="0"/>
            <a:chExt cx="15367000" cy="1524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367000" cy="1524000"/>
            </a:xfrm>
            <a:custGeom>
              <a:avLst/>
              <a:gdLst/>
              <a:ahLst/>
              <a:cxnLst/>
              <a:rect l="l" t="t" r="r" b="b"/>
              <a:pathLst>
                <a:path w="15367000" h="1524000">
                  <a:moveTo>
                    <a:pt x="0" y="0"/>
                  </a:moveTo>
                  <a:lnTo>
                    <a:pt x="15367000" y="0"/>
                  </a:lnTo>
                  <a:lnTo>
                    <a:pt x="15367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102541"/>
            </a:solidFill>
            <a:ln w="9525" cap="sq">
              <a:solidFill>
                <a:srgbClr val="285078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5367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47750" y="5619750"/>
            <a:ext cx="952500" cy="952500"/>
            <a:chOff x="0" y="0"/>
            <a:chExt cx="1270000" cy="1270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70000" cy="1270000"/>
            </a:xfrm>
            <a:custGeom>
              <a:avLst/>
              <a:gdLst/>
              <a:ahLst/>
              <a:cxnLst/>
              <a:rect l="l" t="t" r="r" b="b"/>
              <a:pathLst>
                <a:path w="1270000" h="1270000">
                  <a:moveTo>
                    <a:pt x="203200" y="0"/>
                  </a:moveTo>
                  <a:lnTo>
                    <a:pt x="1066800" y="0"/>
                  </a:lnTo>
                  <a:cubicBezTo>
                    <a:pt x="1179024" y="0"/>
                    <a:pt x="1270000" y="90976"/>
                    <a:pt x="1270000" y="203200"/>
                  </a:cubicBezTo>
                  <a:lnTo>
                    <a:pt x="1270000" y="1066800"/>
                  </a:lnTo>
                  <a:cubicBezTo>
                    <a:pt x="1270000" y="1179024"/>
                    <a:pt x="1179024" y="1270000"/>
                    <a:pt x="1066800" y="1270000"/>
                  </a:cubicBezTo>
                  <a:lnTo>
                    <a:pt x="203200" y="1270000"/>
                  </a:lnTo>
                  <a:cubicBezTo>
                    <a:pt x="90976" y="1270000"/>
                    <a:pt x="0" y="1179024"/>
                    <a:pt x="0" y="1066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478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9525"/>
              <a:ext cx="1270000" cy="1260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3F8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OE3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190750" y="5619750"/>
            <a:ext cx="11525250" cy="1143000"/>
            <a:chOff x="0" y="0"/>
            <a:chExt cx="15367000" cy="1524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5367000" cy="1524000"/>
            </a:xfrm>
            <a:custGeom>
              <a:avLst/>
              <a:gdLst/>
              <a:ahLst/>
              <a:cxnLst/>
              <a:rect l="l" t="t" r="r" b="b"/>
              <a:pathLst>
                <a:path w="15367000" h="1524000">
                  <a:moveTo>
                    <a:pt x="0" y="0"/>
                  </a:moveTo>
                  <a:lnTo>
                    <a:pt x="15367000" y="0"/>
                  </a:lnTo>
                  <a:lnTo>
                    <a:pt x="15367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102541"/>
            </a:solidFill>
            <a:ln w="9525" cap="sq">
              <a:solidFill>
                <a:srgbClr val="285078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5367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381250" y="2952750"/>
            <a:ext cx="1143000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[Conclusión OE1]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381250" y="4476750"/>
            <a:ext cx="1143000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[Conclusión OE2]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381250" y="6000750"/>
            <a:ext cx="1143000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3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[Conclusión OE3]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4097000" y="2286000"/>
            <a:ext cx="3524250" cy="5334000"/>
            <a:chOff x="0" y="0"/>
            <a:chExt cx="4699000" cy="7112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699000" cy="7112000"/>
            </a:xfrm>
            <a:custGeom>
              <a:avLst/>
              <a:gdLst/>
              <a:ahLst/>
              <a:cxnLst/>
              <a:rect l="l" t="t" r="r" b="b"/>
              <a:pathLst>
                <a:path w="4699000" h="7112000">
                  <a:moveTo>
                    <a:pt x="54919" y="0"/>
                  </a:moveTo>
                  <a:lnTo>
                    <a:pt x="4644081" y="0"/>
                  </a:lnTo>
                  <a:cubicBezTo>
                    <a:pt x="4658647" y="0"/>
                    <a:pt x="4672615" y="5786"/>
                    <a:pt x="4682915" y="16085"/>
                  </a:cubicBezTo>
                  <a:cubicBezTo>
                    <a:pt x="4693214" y="26385"/>
                    <a:pt x="4699000" y="40354"/>
                    <a:pt x="4699000" y="54919"/>
                  </a:cubicBezTo>
                  <a:lnTo>
                    <a:pt x="4699000" y="7057081"/>
                  </a:lnTo>
                  <a:cubicBezTo>
                    <a:pt x="4699000" y="7071647"/>
                    <a:pt x="4693214" y="7085616"/>
                    <a:pt x="4682915" y="7095915"/>
                  </a:cubicBezTo>
                  <a:cubicBezTo>
                    <a:pt x="4672615" y="7106214"/>
                    <a:pt x="4658647" y="7112000"/>
                    <a:pt x="4644081" y="7112000"/>
                  </a:cubicBezTo>
                  <a:lnTo>
                    <a:pt x="54919" y="7112000"/>
                  </a:lnTo>
                  <a:cubicBezTo>
                    <a:pt x="40354" y="7112000"/>
                    <a:pt x="26385" y="7106214"/>
                    <a:pt x="16085" y="7095915"/>
                  </a:cubicBezTo>
                  <a:cubicBezTo>
                    <a:pt x="5786" y="7085616"/>
                    <a:pt x="0" y="7071647"/>
                    <a:pt x="0" y="7057081"/>
                  </a:cubicBezTo>
                  <a:lnTo>
                    <a:pt x="0" y="54919"/>
                  </a:lnTo>
                  <a:cubicBezTo>
                    <a:pt x="0" y="40354"/>
                    <a:pt x="5786" y="26385"/>
                    <a:pt x="16085" y="16085"/>
                  </a:cubicBezTo>
                  <a:cubicBezTo>
                    <a:pt x="26385" y="5786"/>
                    <a:pt x="40354" y="0"/>
                    <a:pt x="54919" y="0"/>
                  </a:cubicBezTo>
                  <a:close/>
                </a:path>
              </a:pathLst>
            </a:custGeom>
            <a:solidFill>
              <a:srgbClr val="0D203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9525"/>
              <a:ext cx="4699000" cy="7102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3F8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PREGUNTA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3F8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GENERAL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4382750" y="2733675"/>
            <a:ext cx="2952750" cy="1324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2"/>
              </a:lnSpc>
            </a:pPr>
            <a:r>
              <a:rPr lang="en-US" sz="1950" b="1">
                <a:solidFill>
                  <a:srgbClr val="F3F8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RESPUESTA FINAL</a:t>
            </a:r>
          </a:p>
          <a:p>
            <a:pPr algn="ctr">
              <a:lnSpc>
                <a:spcPts val="2632"/>
              </a:lnSpc>
            </a:pPr>
            <a:r>
              <a:rPr lang="en-US" sz="1950" b="1">
                <a:solidFill>
                  <a:srgbClr val="F3F8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[Respuesta final a la pregunta general de investigación]</a:t>
            </a:r>
          </a:p>
        </p:txBody>
      </p:sp>
      <p:pic>
        <p:nvPicPr>
          <p:cNvPr id="29" name="Picture 2" descr="Símbolos Institucionales – Institución Educativa John F. Kennedy">
            <a:extLst>
              <a:ext uri="{FF2B5EF4-FFF2-40B4-BE49-F238E27FC236}">
                <a16:creationId xmlns:a16="http://schemas.microsoft.com/office/drawing/2014/main" id="{E0B0DCB6-B7F9-6FB1-32A4-868DBC5AE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3400" y="253365"/>
            <a:ext cx="198120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714375"/>
            <a:ext cx="14287500" cy="587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 b="1">
                <a:solidFill>
                  <a:srgbClr val="F3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Recomendaciones y líneas futuras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333500"/>
            <a:ext cx="150495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A9BDD2"/>
                </a:solidFill>
                <a:latin typeface="IBM Plex Sans"/>
                <a:ea typeface="IBM Plex Sans"/>
                <a:cs typeface="IBM Plex Sans"/>
                <a:sym typeface="IBM Plex Sans"/>
              </a:rPr>
              <a:t>De la evidencia a la acción y a nuevas preguntas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47750" y="2381250"/>
            <a:ext cx="5238750" cy="5619750"/>
            <a:chOff x="0" y="0"/>
            <a:chExt cx="6985000" cy="7493000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6985000" cy="7493000"/>
              <a:chOff x="0" y="0"/>
              <a:chExt cx="6985000" cy="74930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985000" cy="7493000"/>
              </a:xfrm>
              <a:custGeom>
                <a:avLst/>
                <a:gdLst/>
                <a:ahLst/>
                <a:cxnLst/>
                <a:rect l="l" t="t" r="r" b="b"/>
                <a:pathLst>
                  <a:path w="6985000" h="7493000">
                    <a:moveTo>
                      <a:pt x="0" y="0"/>
                    </a:moveTo>
                    <a:lnTo>
                      <a:pt x="6985000" y="0"/>
                    </a:lnTo>
                    <a:lnTo>
                      <a:pt x="6985000" y="7493000"/>
                    </a:lnTo>
                    <a:lnTo>
                      <a:pt x="0" y="7493000"/>
                    </a:lnTo>
                    <a:close/>
                  </a:path>
                </a:pathLst>
              </a:custGeom>
              <a:solidFill>
                <a:srgbClr val="0D2039"/>
              </a:solidFill>
              <a:ln w="9525" cap="sq">
                <a:solidFill>
                  <a:srgbClr val="28507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6985000" cy="753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571500" y="444500"/>
              <a:ext cx="1143000" cy="1143000"/>
              <a:chOff x="0" y="0"/>
              <a:chExt cx="1143000" cy="1143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14300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1143000">
                    <a:moveTo>
                      <a:pt x="225778" y="0"/>
                    </a:moveTo>
                    <a:lnTo>
                      <a:pt x="917222" y="0"/>
                    </a:lnTo>
                    <a:cubicBezTo>
                      <a:pt x="1041916" y="0"/>
                      <a:pt x="1143000" y="101084"/>
                      <a:pt x="1143000" y="225778"/>
                    </a:cubicBezTo>
                    <a:lnTo>
                      <a:pt x="1143000" y="917222"/>
                    </a:lnTo>
                    <a:cubicBezTo>
                      <a:pt x="1143000" y="1041916"/>
                      <a:pt x="1041916" y="1143000"/>
                      <a:pt x="917222" y="1143000"/>
                    </a:cubicBezTo>
                    <a:lnTo>
                      <a:pt x="225778" y="1143000"/>
                    </a:lnTo>
                    <a:cubicBezTo>
                      <a:pt x="101084" y="1143000"/>
                      <a:pt x="0" y="1041916"/>
                      <a:pt x="0" y="917222"/>
                    </a:cubicBezTo>
                    <a:lnTo>
                      <a:pt x="0" y="225778"/>
                    </a:lnTo>
                    <a:cubicBezTo>
                      <a:pt x="0" y="101084"/>
                      <a:pt x="101084" y="0"/>
                      <a:pt x="225778" y="0"/>
                    </a:cubicBezTo>
                    <a:close/>
                  </a:path>
                </a:pathLst>
              </a:custGeom>
              <a:solidFill>
                <a:srgbClr val="3478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9525"/>
                <a:ext cx="1143000" cy="11334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70"/>
                  </a:lnSpc>
                </a:pPr>
                <a:r>
                  <a:rPr lang="en-US" sz="1800" b="1">
                    <a:solidFill>
                      <a:srgbClr val="F3F8FF"/>
                    </a:solidFill>
                    <a:latin typeface="IBM Plex Sans Bold"/>
                    <a:ea typeface="IBM Plex Sans Bold"/>
                    <a:cs typeface="IBM Plex Sans Bold"/>
                    <a:sym typeface="IBM Plex Sans Bold"/>
                  </a:rPr>
                  <a:t>01</a:t>
                </a:r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571500" y="1798760"/>
              <a:ext cx="58420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3F8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APORTES PRÁCTICOS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3F8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[Aportes prácticos]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524625" y="2381250"/>
            <a:ext cx="5238750" cy="5619750"/>
            <a:chOff x="0" y="0"/>
            <a:chExt cx="6985000" cy="749300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6985000" cy="7493000"/>
              <a:chOff x="0" y="0"/>
              <a:chExt cx="6985000" cy="7493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985000" cy="7493000"/>
              </a:xfrm>
              <a:custGeom>
                <a:avLst/>
                <a:gdLst/>
                <a:ahLst/>
                <a:cxnLst/>
                <a:rect l="l" t="t" r="r" b="b"/>
                <a:pathLst>
                  <a:path w="6985000" h="7493000">
                    <a:moveTo>
                      <a:pt x="0" y="0"/>
                    </a:moveTo>
                    <a:lnTo>
                      <a:pt x="6985000" y="0"/>
                    </a:lnTo>
                    <a:lnTo>
                      <a:pt x="6985000" y="7493000"/>
                    </a:lnTo>
                    <a:lnTo>
                      <a:pt x="0" y="7493000"/>
                    </a:lnTo>
                    <a:close/>
                  </a:path>
                </a:pathLst>
              </a:custGeom>
              <a:solidFill>
                <a:srgbClr val="102541"/>
              </a:solidFill>
              <a:ln w="9525" cap="sq">
                <a:solidFill>
                  <a:srgbClr val="28507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6985000" cy="753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571500" y="444500"/>
              <a:ext cx="1143000" cy="1143000"/>
              <a:chOff x="0" y="0"/>
              <a:chExt cx="1143000" cy="11430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14300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1143000">
                    <a:moveTo>
                      <a:pt x="225778" y="0"/>
                    </a:moveTo>
                    <a:lnTo>
                      <a:pt x="917222" y="0"/>
                    </a:lnTo>
                    <a:cubicBezTo>
                      <a:pt x="1041916" y="0"/>
                      <a:pt x="1143000" y="101084"/>
                      <a:pt x="1143000" y="225778"/>
                    </a:cubicBezTo>
                    <a:lnTo>
                      <a:pt x="1143000" y="917222"/>
                    </a:lnTo>
                    <a:cubicBezTo>
                      <a:pt x="1143000" y="1041916"/>
                      <a:pt x="1041916" y="1143000"/>
                      <a:pt x="917222" y="1143000"/>
                    </a:cubicBezTo>
                    <a:lnTo>
                      <a:pt x="225778" y="1143000"/>
                    </a:lnTo>
                    <a:cubicBezTo>
                      <a:pt x="101084" y="1143000"/>
                      <a:pt x="0" y="1041916"/>
                      <a:pt x="0" y="917222"/>
                    </a:cubicBezTo>
                    <a:lnTo>
                      <a:pt x="0" y="225778"/>
                    </a:lnTo>
                    <a:cubicBezTo>
                      <a:pt x="0" y="101084"/>
                      <a:pt x="101084" y="0"/>
                      <a:pt x="225778" y="0"/>
                    </a:cubicBezTo>
                    <a:close/>
                  </a:path>
                </a:pathLst>
              </a:custGeom>
              <a:solidFill>
                <a:srgbClr val="3478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9525"/>
                <a:ext cx="1143000" cy="11334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70"/>
                  </a:lnSpc>
                </a:pPr>
                <a:r>
                  <a:rPr lang="en-US" sz="1800" b="1">
                    <a:solidFill>
                      <a:srgbClr val="F3F8FF"/>
                    </a:solidFill>
                    <a:latin typeface="IBM Plex Sans Bold"/>
                    <a:ea typeface="IBM Plex Sans Bold"/>
                    <a:cs typeface="IBM Plex Sans Bold"/>
                    <a:sym typeface="IBM Plex Sans Bold"/>
                  </a:rPr>
                  <a:t>02</a:t>
                </a:r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571500" y="1759683"/>
              <a:ext cx="58420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3F8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RECOMENDACIONES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3F8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[Recomendaciones]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001500" y="2381250"/>
            <a:ext cx="5238750" cy="5619750"/>
            <a:chOff x="0" y="0"/>
            <a:chExt cx="6985000" cy="7493000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6985000" cy="7493000"/>
              <a:chOff x="0" y="0"/>
              <a:chExt cx="6985000" cy="7493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6985000" cy="7493000"/>
              </a:xfrm>
              <a:custGeom>
                <a:avLst/>
                <a:gdLst/>
                <a:ahLst/>
                <a:cxnLst/>
                <a:rect l="l" t="t" r="r" b="b"/>
                <a:pathLst>
                  <a:path w="6985000" h="7493000">
                    <a:moveTo>
                      <a:pt x="0" y="0"/>
                    </a:moveTo>
                    <a:lnTo>
                      <a:pt x="6985000" y="0"/>
                    </a:lnTo>
                    <a:lnTo>
                      <a:pt x="6985000" y="7493000"/>
                    </a:lnTo>
                    <a:lnTo>
                      <a:pt x="0" y="7493000"/>
                    </a:lnTo>
                    <a:close/>
                  </a:path>
                </a:pathLst>
              </a:custGeom>
              <a:solidFill>
                <a:srgbClr val="0D2039"/>
              </a:solidFill>
              <a:ln w="9525" cap="sq">
                <a:solidFill>
                  <a:srgbClr val="28507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6985000" cy="753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571500" y="444500"/>
              <a:ext cx="1143000" cy="1143000"/>
              <a:chOff x="0" y="0"/>
              <a:chExt cx="1143000" cy="11430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14300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1143000">
                    <a:moveTo>
                      <a:pt x="225778" y="0"/>
                    </a:moveTo>
                    <a:lnTo>
                      <a:pt x="917222" y="0"/>
                    </a:lnTo>
                    <a:cubicBezTo>
                      <a:pt x="1041916" y="0"/>
                      <a:pt x="1143000" y="101084"/>
                      <a:pt x="1143000" y="225778"/>
                    </a:cubicBezTo>
                    <a:lnTo>
                      <a:pt x="1143000" y="917222"/>
                    </a:lnTo>
                    <a:cubicBezTo>
                      <a:pt x="1143000" y="1041916"/>
                      <a:pt x="1041916" y="1143000"/>
                      <a:pt x="917222" y="1143000"/>
                    </a:cubicBezTo>
                    <a:lnTo>
                      <a:pt x="225778" y="1143000"/>
                    </a:lnTo>
                    <a:cubicBezTo>
                      <a:pt x="101084" y="1143000"/>
                      <a:pt x="0" y="1041916"/>
                      <a:pt x="0" y="917222"/>
                    </a:cubicBezTo>
                    <a:lnTo>
                      <a:pt x="0" y="225778"/>
                    </a:lnTo>
                    <a:cubicBezTo>
                      <a:pt x="0" y="101084"/>
                      <a:pt x="101084" y="0"/>
                      <a:pt x="225778" y="0"/>
                    </a:cubicBezTo>
                    <a:close/>
                  </a:path>
                </a:pathLst>
              </a:custGeom>
              <a:solidFill>
                <a:srgbClr val="3478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9525"/>
                <a:ext cx="1143000" cy="11334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70"/>
                  </a:lnSpc>
                </a:pPr>
                <a:r>
                  <a:rPr lang="en-US" sz="1800" b="1">
                    <a:solidFill>
                      <a:srgbClr val="F3F8FF"/>
                    </a:solidFill>
                    <a:latin typeface="IBM Plex Sans Bold"/>
                    <a:ea typeface="IBM Plex Sans Bold"/>
                    <a:cs typeface="IBM Plex Sans Bold"/>
                    <a:sym typeface="IBM Plex Sans Bold"/>
                  </a:rPr>
                  <a:t>03</a:t>
                </a:r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571500" y="1740144"/>
              <a:ext cx="58420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3F8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LÍNEAS FUTURAS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3F8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[Líneas futuras]</a:t>
              </a:r>
            </a:p>
          </p:txBody>
        </p:sp>
      </p:grpSp>
      <p:pic>
        <p:nvPicPr>
          <p:cNvPr id="28" name="Picture 2" descr="Símbolos Institucionales – Institución Educativa John F. Kennedy">
            <a:extLst>
              <a:ext uri="{FF2B5EF4-FFF2-40B4-BE49-F238E27FC236}">
                <a16:creationId xmlns:a16="http://schemas.microsoft.com/office/drawing/2014/main" id="{4ADDEB4E-721C-F800-5C4F-F4EB4C8127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3400" y="253365"/>
            <a:ext cx="198120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11F">
                <a:alpha val="65882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476500" y="1743075"/>
            <a:ext cx="13335000" cy="141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49"/>
              </a:lnSpc>
            </a:pPr>
            <a:r>
              <a:rPr lang="en-US" sz="8250" b="1">
                <a:solidFill>
                  <a:srgbClr val="F3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Gracias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05250" y="3581400"/>
            <a:ext cx="1047750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>
                <a:solidFill>
                  <a:srgbClr val="A9BDD2"/>
                </a:solidFill>
                <a:latin typeface="IBM Plex Sans"/>
                <a:ea typeface="IBM Plex Sans"/>
                <a:cs typeface="IBM Plex Sans"/>
                <a:sym typeface="IBM Plex Sans"/>
              </a:rPr>
              <a:t>[Mensaje de agradecimiento]</a:t>
            </a:r>
          </a:p>
        </p:txBody>
      </p:sp>
      <p:sp>
        <p:nvSpPr>
          <p:cNvPr id="8" name="AutoShape 8"/>
          <p:cNvSpPr/>
          <p:nvPr/>
        </p:nvSpPr>
        <p:spPr>
          <a:xfrm>
            <a:off x="7239000" y="5334000"/>
            <a:ext cx="3810000" cy="0"/>
          </a:xfrm>
          <a:prstGeom prst="line">
            <a:avLst/>
          </a:prstGeom>
          <a:ln w="38100" cap="rnd">
            <a:solidFill>
              <a:srgbClr val="31D7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Box 9"/>
          <p:cNvSpPr txBox="1"/>
          <p:nvPr/>
        </p:nvSpPr>
        <p:spPr>
          <a:xfrm>
            <a:off x="2857500" y="5762625"/>
            <a:ext cx="12573000" cy="931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1">
                <a:solidFill>
                  <a:srgbClr val="F3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Espacio abierto para preguntas y observaciones del Tribunal Evaluador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34000" y="8058150"/>
            <a:ext cx="7620000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>
                <a:solidFill>
                  <a:srgbClr val="31D7FF"/>
                </a:solidFill>
                <a:latin typeface="IBM Plex Sans"/>
                <a:ea typeface="IBM Plex Sans"/>
                <a:cs typeface="IBM Plex Sans"/>
                <a:sym typeface="IBM Plex Sans"/>
              </a:rPr>
              <a:t>[Correos electrónicos]</a:t>
            </a:r>
          </a:p>
        </p:txBody>
      </p:sp>
      <p:pic>
        <p:nvPicPr>
          <p:cNvPr id="11" name="Picture 2" descr="Símbolos Institucionales – Institución Educativa John F. Kennedy">
            <a:extLst>
              <a:ext uri="{FF2B5EF4-FFF2-40B4-BE49-F238E27FC236}">
                <a16:creationId xmlns:a16="http://schemas.microsoft.com/office/drawing/2014/main" id="{1896BFB1-11BE-E79B-DED7-A753E5ED60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3400" y="253365"/>
            <a:ext cx="198120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568</Words>
  <Application>Microsoft Office PowerPoint</Application>
  <PresentationFormat>Personalizado</PresentationFormat>
  <Paragraphs>116</Paragraphs>
  <Slides>12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9" baseType="lpstr">
      <vt:lpstr>IBM Plex Sans Bold</vt:lpstr>
      <vt:lpstr>Calibri</vt:lpstr>
      <vt:lpstr>IBM Plex Sans</vt:lpstr>
      <vt:lpstr>Montserrat Bold</vt:lpstr>
      <vt:lpstr>Aptos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RECOMENDACIONES [Recomendaciones]</dc:title>
  <dc:creator>USUARIO</dc:creator>
  <cp:lastModifiedBy>Docente</cp:lastModifiedBy>
  <cp:revision>4</cp:revision>
  <dcterms:created xsi:type="dcterms:W3CDTF">2006-08-16T00:00:00Z</dcterms:created>
  <dcterms:modified xsi:type="dcterms:W3CDTF">2026-10-28T22:23:15Z</dcterms:modified>
  <dc:identifier>DAHZVEupOUI</dc:identifier>
</cp:coreProperties>
</file>